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notesMasterIdLst>
    <p:notesMasterId r:id="rId20"/>
  </p:notesMasterIdLst>
  <p:sldSz cx="12192000" cy="6858000" type="custom"/>
  <p:notesSz cx="12192000" cy="6858000"/>
  <p:embeddedFontLst>
    <p:embeddedFont>
      <p:font typeface="MiSans" charset="-122" pitchFamily="34"/>
      <p:regular r:id="rId18"/>
    </p:embeddedFont>
    <p:embeddedFont>
      <p:font typeface="JetBrains Mono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核心信息：一句话定位——记忆的"Git"，不是又一个向量库。</a:t>
            </a:r>
          </a:p>
          <a:p>
            <a:r>
              <a:rPr lang="en-US" sz="1200" noProof="1"/>
              <a:t>语气：开场强调性，语速放慢。潜在问答：与 MemGPT/Zep 的区别？答：文件优先 + 审批制 + 群体进化三件套。建议停留 40 秒。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核心信息：痛点不是"记不住"，而是"记了也不可信、不可控、不流通"。</a:t>
            </a:r>
          </a:p>
          <a:p>
            <a:r>
              <a:rPr lang="en-US" sz="1200" noProof="1"/>
              <a:t>语气：解释性，举"同一坑点五人重踩"的具体场景。展开点：字符预算、漂移检测都是为"可信"服务。建议停留 60 秒。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核心信息：共享记忆的攻击面已被学术界实证，防御必须内生设计。</a:t>
            </a:r>
          </a:p>
          <a:p>
            <a:r>
              <a:rPr lang="en-US" sz="1200" noProof="1"/>
              <a:t>语气：强调性，这页为后续所有安全设计立"必要性"。潜在问答：为什么引用攻击论文？答：威胁模型决定设计形状。建议停留 60 秒。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核心信息：四层架构——客户端、MCP 服务、本地四子系统、可选云端两层；云端是模块而非依赖。</a:t>
            </a:r>
          </a:p>
          <a:p>
            <a:r>
              <a:rPr lang="en-US" sz="1200" noProof="1"/>
              <a:t>语气：过渡性，为后面模块拆解立地图。展开点：Cloud Gate 两个方向——Uplink Gate 判"可不可分享"，TEAM.md 判"可不可信"。建议停留 70 秒。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核心信息：双态模型是工程约束驱动的设计——为前缀缓存稳定性牺牲记忆新鲜度。</a:t>
            </a:r>
          </a:p>
          <a:p>
            <a:r>
              <a:rPr lang="en-US" sz="1200" noProof="1"/>
              <a:t>语气：解释性，技术评审会关心这个取舍。潜在问答：为什么用字符非 token？答：模型无关性。建议停留 70 秒。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核心信息：审批制是本项目基因，云端层只是它的放大——LLM 是提建议的实习生，不是有写权限的管理员。</a:t>
            </a:r>
          </a:p>
          <a:p>
            <a:r>
              <a:rPr lang="en-US" sz="1200" noProof="1"/>
              <a:t>语气：强调性。展开点：≥2 次阈值防一次性指令固化，云端把它升级为 ≥k 个独立用户。建议停留 60 秒。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核心信息：群体可信性是随证据流变化的状态机，不是一次性判定；每次转移都是机械判据——计数、阈值、TTL。</a:t>
            </a:r>
          </a:p>
          <a:p>
            <a:r>
              <a:rPr lang="en-US" sz="1200" noProof="1"/>
              <a:t>语气：解释性，全场最核心一页。展开点：反证超 30% 触发分叉而非强行仲裁，矛盾共识带情境标签共存。建议停留 90 秒。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核心信息：隐私靠结构保证，不靠检测——检测会失手，结构不会累；判定逻辑从"识别敏感"翻转为"白名单放行"。</a:t>
            </a:r>
          </a:p>
          <a:p>
            <a:r>
              <a:rPr lang="en-US" sz="1200" noProof="1"/>
              <a:t>语气：强调性。潜在问答：长尾坑点漏了怎么办？答：宁漏勿错，k 阈值 per 频道可调。建议停留 80 秒。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核心信息：三道硬约束全部可机械验证，不依赖 LLM 自觉；gen ≤ 2 防的是群体版 context collapse（越摘越空，还带权威光环）。</a:t>
            </a:r>
          </a:p>
          <a:p>
            <a:r>
              <a:rPr lang="en-US" sz="1200" noProof="1"/>
              <a:t>语气：解释性，逐条讲清"防的是什么"。建议停留 80 秒。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核心信息：心态是"假设失陷"——防不住就保证能检测、能止血、能回滚；共识条目一律按不可信输入处理。</a:t>
            </a:r>
          </a:p>
          <a:p>
            <a:r>
              <a:rPr lang="en-US" sz="1200" noProof="1"/>
              <a:t>语气：强调性。潜在问答：检测率多少？答：OWASP 参考实现声称 98.7%，数值存疑但五层分类可借鉴。建议停留 80 秒。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核心信息：隐私、毒化、坍缩三个坑的对策收束成四层防御一张图；对策全是机制，不是约定。</a:t>
            </a:r>
          </a:p>
          <a:p>
            <a:r>
              <a:rPr lang="en-US" sz="1200" noProof="1"/>
              <a:t>语气：总结强调性。展开点：身份分层——信誉密钥只挂分、内容标识每次会话轮换，隐私与信誉的冲突由此调和。建议停留 70 秒。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核心信息：设计阶段没有自测数据，有的是论文佐证 + 可执行验收标准；每条机制都能指回权威出处。</a:t>
            </a:r>
          </a:p>
          <a:p>
            <a:r>
              <a:rPr lang="en-US" sz="1200" noProof="1"/>
              <a:t>语气：诚实解释性。展开点：下一页给出模拟环境下的目标指标（占位符）。建议停留 60 秒。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核心信息：指标选型是真实交付物，数字是占位符；必须主动声明数据为模拟，可信度靠诚实维护。</a:t>
            </a:r>
          </a:p>
          <a:p>
            <a:r>
              <a:rPr lang="en-US" sz="1200" noProof="1"/>
              <a:t>语气：解释性。替换路径：M1–M3 验收时实采拦截率、晋升周期、检出率、回滚耗时。模拟方法：聚合管线蒙特卡洛仿真 + MINJA/Murmur 攻击变体回放。建议停留 70 秒。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核心信息：每个里程碑独立可用、独立可验，工程风险可控；M1–M3 价值闭环，M4 健康闭环，M5 生存闭环。</a:t>
            </a:r>
          </a:p>
          <a:p>
            <a:r>
              <a:rPr lang="en-US" sz="1200" noProof="1"/>
              <a:t>语气：过渡性，引向合作讨论。潜在问答：最难的是哪个？答：M5 身份密码学，刻意放最后。本周动作：跑通 M1–M3 验收，用实测替换示例数据。建议停留 60 秒。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核心信息：收束立场，邀请架构评审与合作；三句话慢速读完再开口。</a:t>
            </a:r>
          </a:p>
          <a:p>
            <a:r>
              <a:rPr lang="en-US" sz="1200" noProof="1"/>
              <a:t>语气：收束强调性。展开点：可现场打开设计文档「未解决问题清单」一节展示诚实度。建议停留 50 秒。</a:t>
            </a:r>
          </a:p>
          <a:p>
            <a:r>
              <a:rPr lang="en-US" sz="1200" noProof="1"/>
              <a:t/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rxiv.org/abs/2511.17671" TargetMode="External"/><Relationship Id="rId4" Type="http://schemas.openxmlformats.org/officeDocument/2006/relationships/hyperlink" Target="https://arxiv.org/abs/2506.07398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rxiv.org/abs/2506.07398" TargetMode="External"/><Relationship Id="rId4" Type="http://schemas.openxmlformats.org/officeDocument/2006/relationships/hyperlink" Target="https://arxiv.org/abs/2510.04618" TargetMode="External"/><Relationship Id="rId5" Type="http://schemas.openxmlformats.org/officeDocument/2006/relationships/hyperlink" Target="https://arxiv.org/abs/2502.12110" TargetMode="Externa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strip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3" name="sideband"/>
          <p:cNvSpPr/>
          <p:nvPr/>
        </p:nvSpPr>
        <p:spPr>
          <a:xfrm>
            <a:off x="9144000" y="101600"/>
            <a:ext cx="3048000" cy="67564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4" name="sidemark"/>
          <p:cNvSpPr/>
          <p:nvPr/>
        </p:nvSpPr>
        <p:spPr>
          <a:xfrm>
            <a:off x="9144000" y="101600"/>
            <a:ext cx="3048000" cy="762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sidetext"/>
          <p:cNvSpPr txBox="1"/>
          <p:nvPr/>
        </p:nvSpPr>
        <p:spPr>
          <a:xfrm>
            <a:off x="9499600" y="59690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本地内核 v0.1.0 已落地</a:t>
            </a:r>
            <a:endParaRPr lang="en-US" sz="11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云端进化层 · 设计草案</a:t>
            </a:r>
            <a:endParaRPr lang="en-US" sz="1100" noProof="1"/>
          </a:p>
        </p:txBody>
      </p:sp>
      <p:sp>
        <p:nvSpPr>
          <p:cNvPr id="6" name="kickerbar"/>
          <p:cNvSpPr/>
          <p:nvPr/>
        </p:nvSpPr>
        <p:spPr>
          <a:xfrm>
            <a:off x="1016000" y="12192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7" name="kicker"/>
          <p:cNvSpPr txBox="1"/>
          <p:nvPr/>
        </p:nvSpPr>
        <p:spPr>
          <a:xfrm>
            <a:off x="1016000" y="13970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spc="400" kern="0">
                <a:solidFill>
                  <a:srgbClr val="DB0011"/>
                </a:solidFill>
                <a:latin typeface="MiSans"/>
                <a:ea typeface="MiSans"/>
              </a:rPr>
              <a:t>TECHNICAL DESIGN REVIEW · 2026-09</a:t>
            </a:r>
            <a:endParaRPr lang="en-US" sz="1300" noProof="1"/>
          </a:p>
        </p:txBody>
      </p:sp>
      <p:sp>
        <p:nvSpPr>
          <p:cNvPr id="8" name="title"/>
          <p:cNvSpPr txBox="1"/>
          <p:nvPr/>
        </p:nvSpPr>
        <p:spPr>
          <a:xfrm>
            <a:off x="1016000" y="1981200"/>
            <a:ext cx="7874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800" noProof="1" b="1">
                <a:solidFill>
                  <a:srgbClr val="333333"/>
                </a:solidFill>
                <a:latin typeface="JetBrains Mono"/>
                <a:ea typeface="JetBrains Mono"/>
              </a:rPr>
              <a:t>memory-hub</a:t>
            </a:r>
            <a:endParaRPr lang="en-US" sz="4800" noProof="1"/>
          </a:p>
        </p:txBody>
      </p:sp>
      <p:sp>
        <p:nvSpPr>
          <p:cNvPr id="9" name="subtitle"/>
          <p:cNvSpPr txBox="1"/>
          <p:nvPr/>
        </p:nvSpPr>
        <p:spPr>
          <a:xfrm>
            <a:off x="1016000" y="2971800"/>
            <a:ext cx="787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>
                <a:solidFill>
                  <a:srgbClr val="333333"/>
                </a:solidFill>
                <a:latin typeface="MiSans"/>
                <a:ea typeface="MiSans"/>
              </a:rPr>
              <a:t>从单机记忆到群体进化：多 Agent 共享的长期记忆中枢</a:t>
            </a:r>
            <a:endParaRPr lang="en-US" sz="2200" noProof="1"/>
          </a:p>
        </p:txBody>
      </p:sp>
      <p:sp>
        <p:nvSpPr>
          <p:cNvPr id="10" name="divider"/>
          <p:cNvSpPr/>
          <p:nvPr/>
        </p:nvSpPr>
        <p:spPr>
          <a:xfrm>
            <a:off x="1016000" y="3886200"/>
            <a:ext cx="1524000" cy="381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11" name="points"/>
          <p:cNvSpPr txBox="1"/>
          <p:nvPr/>
        </p:nvSpPr>
        <p:spPr>
          <a:xfrm>
            <a:off x="1016000" y="4165600"/>
            <a:ext cx="787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777777"/>
                </a:solidFill>
                <a:latin typeface="MiSans"/>
                <a:ea typeface="MiSans"/>
              </a:rPr>
              <a:t>本地优先 · 文件可读 · 审批制进化 · 云端共识（知情许可，默认关闭）</a:t>
            </a:r>
            <a:endParaRPr lang="en-US" sz="1500" noProof="1"/>
          </a:p>
        </p:txBody>
      </p:sp>
      <p:sp>
        <p:nvSpPr>
          <p:cNvPr id="12" name="meta"/>
          <p:cNvSpPr txBox="1"/>
          <p:nvPr/>
        </p:nvSpPr>
        <p:spPr>
          <a:xfrm>
            <a:off x="1016000" y="5740400"/>
            <a:ext cx="787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v0.2 设计草案 · 受众：技术团队 / 架构评审 / 潜在合作方</a:t>
            </a:r>
            <a:endParaRPr lang="en-US" sz="1200" noProof="1"/>
          </a:p>
        </p:txBody>
      </p:sp>
      <p:sp>
        <p:nvSpPr>
          <p:cNvPr id="13" name="footstrip"/>
          <p:cNvSpPr/>
          <p:nvPr/>
        </p:nvSpPr>
        <p:spPr>
          <a:xfrm>
            <a:off x="0" y="6756400"/>
            <a:ext cx="9144000" cy="10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01 · 背景与问题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333333"/>
                </a:solidFill>
                <a:latin typeface="MiSans"/>
                <a:ea typeface="MiSans"/>
              </a:rPr>
              <a:t>Agent 的记忆，现在有三个硬伤</a:t>
            </a:r>
            <a:endParaRPr lang="en-US" sz="27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n1"/>
          <p:cNvSpPr txBox="1"/>
          <p:nvPr/>
        </p:nvSpPr>
        <p:spPr>
          <a:xfrm>
            <a:off x="762000" y="1778000"/>
            <a:ext cx="812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DB0011"/>
                </a:solidFill>
                <a:latin typeface="JetBrains Mono"/>
                <a:ea typeface="JetBrains Mono"/>
              </a:rPr>
              <a:t>01</a:t>
            </a:r>
            <a:endParaRPr lang="en-US" sz="2600" noProof="1"/>
          </a:p>
        </p:txBody>
      </p:sp>
      <p:sp>
        <p:nvSpPr>
          <p:cNvPr id="6" name="h1"/>
          <p:cNvSpPr txBox="1"/>
          <p:nvPr/>
        </p:nvSpPr>
        <p:spPr>
          <a:xfrm>
            <a:off x="1701800" y="17780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333333"/>
                </a:solidFill>
                <a:latin typeface="MiSans"/>
                <a:ea typeface="MiSans"/>
              </a:rPr>
              <a:t>经验不沉淀</a:t>
            </a:r>
            <a:endParaRPr lang="en-US" sz="1800" noProof="1"/>
          </a:p>
        </p:txBody>
      </p:sp>
      <p:sp>
        <p:nvSpPr>
          <p:cNvPr id="7" name="d1"/>
          <p:cNvSpPr txBox="1"/>
          <p:nvPr/>
        </p:nvSpPr>
        <p:spPr>
          <a:xfrm>
            <a:off x="1701800" y="21336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777777"/>
                </a:solidFill>
                <a:latin typeface="MiSans"/>
                <a:ea typeface="MiSans"/>
              </a:rPr>
              <a:t>会话结束即遗忘，排查过的坑、验证过的用法全部随上下文一起消失</a:t>
            </a:r>
            <a:endParaRPr lang="en-US" sz="1400" noProof="1"/>
          </a:p>
        </p:txBody>
      </p:sp>
      <p:sp>
        <p:nvSpPr>
          <p:cNvPr id="8" name="r1"/>
          <p:cNvSpPr/>
          <p:nvPr/>
        </p:nvSpPr>
        <p:spPr>
          <a:xfrm>
            <a:off x="1701800" y="2590800"/>
            <a:ext cx="8890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9" name="n2"/>
          <p:cNvSpPr txBox="1"/>
          <p:nvPr/>
        </p:nvSpPr>
        <p:spPr>
          <a:xfrm>
            <a:off x="762000" y="2946400"/>
            <a:ext cx="812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DB0011"/>
                </a:solidFill>
                <a:latin typeface="JetBrains Mono"/>
                <a:ea typeface="JetBrains Mono"/>
              </a:rPr>
              <a:t>02</a:t>
            </a:r>
            <a:endParaRPr lang="en-US" sz="2600" noProof="1"/>
          </a:p>
        </p:txBody>
      </p:sp>
      <p:sp>
        <p:nvSpPr>
          <p:cNvPr id="10" name="h2"/>
          <p:cNvSpPr txBox="1"/>
          <p:nvPr/>
        </p:nvSpPr>
        <p:spPr>
          <a:xfrm>
            <a:off x="1701800" y="2946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333333"/>
                </a:solidFill>
                <a:latin typeface="MiSans"/>
                <a:ea typeface="MiSans"/>
              </a:rPr>
              <a:t>记忆不可控</a:t>
            </a:r>
            <a:endParaRPr lang="en-US" sz="1800" noProof="1"/>
          </a:p>
        </p:txBody>
      </p:sp>
      <p:sp>
        <p:nvSpPr>
          <p:cNvPr id="11" name="d2"/>
          <p:cNvSpPr txBox="1"/>
          <p:nvPr/>
        </p:nvSpPr>
        <p:spPr>
          <a:xfrm>
            <a:off x="1701800" y="33020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777777"/>
                </a:solidFill>
                <a:latin typeface="MiSans"/>
                <a:ea typeface="MiSans"/>
              </a:rPr>
              <a:t>让 AI 自动改记忆，改错无审计、改坏难追溯，用户失去对记忆的控制权</a:t>
            </a:r>
            <a:endParaRPr lang="en-US" sz="1400" noProof="1"/>
          </a:p>
        </p:txBody>
      </p:sp>
      <p:sp>
        <p:nvSpPr>
          <p:cNvPr id="12" name="r2"/>
          <p:cNvSpPr/>
          <p:nvPr/>
        </p:nvSpPr>
        <p:spPr>
          <a:xfrm>
            <a:off x="1701800" y="3759200"/>
            <a:ext cx="8890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3" name="n3"/>
          <p:cNvSpPr txBox="1"/>
          <p:nvPr/>
        </p:nvSpPr>
        <p:spPr>
          <a:xfrm>
            <a:off x="762000" y="4114800"/>
            <a:ext cx="812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DB0011"/>
                </a:solidFill>
                <a:latin typeface="JetBrains Mono"/>
                <a:ea typeface="JetBrains Mono"/>
              </a:rPr>
              <a:t>03</a:t>
            </a:r>
            <a:endParaRPr lang="en-US" sz="2600" noProof="1"/>
          </a:p>
        </p:txBody>
      </p:sp>
      <p:sp>
        <p:nvSpPr>
          <p:cNvPr id="14" name="h3"/>
          <p:cNvSpPr txBox="1"/>
          <p:nvPr/>
        </p:nvSpPr>
        <p:spPr>
          <a:xfrm>
            <a:off x="1701800" y="41148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333333"/>
                </a:solidFill>
                <a:latin typeface="MiSans"/>
                <a:ea typeface="MiSans"/>
              </a:rPr>
              <a:t>知识不流通</a:t>
            </a:r>
            <a:endParaRPr lang="en-US" sz="1800" noProof="1"/>
          </a:p>
        </p:txBody>
      </p:sp>
      <p:sp>
        <p:nvSpPr>
          <p:cNvPr id="15" name="d3"/>
          <p:cNvSpPr txBox="1"/>
          <p:nvPr/>
        </p:nvSpPr>
        <p:spPr>
          <a:xfrm>
            <a:off x="1701800" y="44704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777777"/>
                </a:solidFill>
                <a:latin typeface="MiSans"/>
                <a:ea typeface="MiSans"/>
              </a:rPr>
              <a:t>多个 Agent、多个用户各自记事，同一个环境坑点，每个人都要重新踩一遍</a:t>
            </a:r>
            <a:endParaRPr lang="en-US" sz="1400" noProof="1"/>
          </a:p>
        </p:txBody>
      </p:sp>
      <p:sp>
        <p:nvSpPr>
          <p:cNvPr id="16" name="conclusion"/>
          <p:cNvSpPr txBox="1"/>
          <p:nvPr/>
        </p:nvSpPr>
        <p:spPr>
          <a:xfrm>
            <a:off x="762000" y="5384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DB0011"/>
                </a:solidFill>
                <a:latin typeface="MiSans"/>
                <a:ea typeface="MiSans"/>
              </a:rPr>
              <a:t>痛点不是「记不住」，而是记了也不可信、不可控、不流通</a:t>
            </a:r>
            <a:endParaRPr lang="en-US" sz="1700" noProof="1"/>
          </a:p>
        </p:txBody>
      </p:sp>
      <p:sp>
        <p:nvSpPr>
          <p:cNvPr id="17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8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云端进化层设计评审</a:t>
            </a:r>
            <a:endParaRPr lang="en-US" sz="1100" noProof="1"/>
          </a:p>
        </p:txBody>
      </p:sp>
      <p:sp>
        <p:nvSpPr>
          <p:cNvPr id="19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02 / 15</a:t>
            </a:r>
            <a:endParaRPr lang="en-US" sz="11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02 · 威胁模型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333333"/>
                </a:solidFill>
                <a:latin typeface="MiSans"/>
                <a:ea typeface="MiSans"/>
              </a:rPr>
              <a:t>威胁已被实证：共享记忆是可攻击面</a:t>
            </a:r>
            <a:endParaRPr lang="en-US" sz="27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s1"/>
          <p:cNvSpPr txBox="1"/>
          <p:nvPr/>
        </p:nvSpPr>
        <p:spPr>
          <a:xfrm>
            <a:off x="762000" y="1727200"/>
            <a:ext cx="228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DB0011"/>
                </a:solidFill>
                <a:latin typeface="JetBrains Mono"/>
                <a:ea typeface="JetBrains Mono"/>
              </a:rPr>
              <a:t>&gt;95%</a:t>
            </a:r>
            <a:endParaRPr lang="en-US" sz="3400" noProof="1"/>
          </a:p>
        </p:txBody>
      </p:sp>
      <p:sp>
        <p:nvSpPr>
          <p:cNvPr id="6" name="s1d"/>
          <p:cNvSpPr txBox="1"/>
          <p:nvPr/>
        </p:nvSpPr>
        <p:spPr>
          <a:xfrm>
            <a:off x="3175000" y="17526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noProof="1" b="1">
                <a:solidFill>
                  <a:srgbClr val="333333"/>
                </a:solidFill>
                <a:latin typeface="MiSans"/>
                <a:ea typeface="MiSans"/>
              </a:rPr>
              <a:t>MINJA</a:t>
            </a:r>
            <a:r>
              <a:rPr lang="en-US" sz="1400" noProof="1">
                <a:solidFill>
                  <a:srgbClr val="333333"/>
                </a:solidFill>
                <a:latin typeface="MiSans"/>
                <a:ea typeface="MiSans"/>
              </a:rPr>
              <a:t>：仅需查询即可向 Agent 记忆注入恶意内容的成功率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攻击者无需任何系统权限，黑盒即可完成记忆投毒</a:t>
            </a:r>
            <a:endParaRPr lang="en-US" sz="1400" noProof="1"/>
          </a:p>
        </p:txBody>
      </p:sp>
      <p:sp>
        <p:nvSpPr>
          <p:cNvPr id="7" name="r1"/>
          <p:cNvSpPr/>
          <p:nvPr/>
        </p:nvSpPr>
        <p:spPr>
          <a:xfrm>
            <a:off x="762000" y="25400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8" name="s2"/>
          <p:cNvSpPr txBox="1"/>
          <p:nvPr/>
        </p:nvSpPr>
        <p:spPr>
          <a:xfrm>
            <a:off x="762000" y="2844800"/>
            <a:ext cx="228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DB0011"/>
                </a:solidFill>
                <a:latin typeface="JetBrains Mono"/>
                <a:ea typeface="JetBrains Mono"/>
              </a:rPr>
              <a:t>Murmur</a:t>
            </a:r>
            <a:endParaRPr lang="en-US" sz="3400" noProof="1"/>
          </a:p>
        </p:txBody>
      </p:sp>
      <p:sp>
        <p:nvSpPr>
          <p:cNvPr id="9" name="s2d"/>
          <p:cNvSpPr txBox="1"/>
          <p:nvPr/>
        </p:nvSpPr>
        <p:spPr>
          <a:xfrm>
            <a:off x="3175000" y="28702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noProof="1" b="1">
                <a:solidFill>
                  <a:srgbClr val="333333"/>
                </a:solidFill>
                <a:latin typeface="MiSans"/>
                <a:ea typeface="MiSans"/>
              </a:rPr>
              <a:t>跨用户 chatter 毒化</a:t>
            </a:r>
            <a:r>
              <a:rPr lang="en-US" sz="1400" noProof="1">
                <a:solidFill>
                  <a:srgbClr val="333333"/>
                </a:solidFill>
                <a:latin typeface="MiSans"/>
                <a:ea typeface="MiSans"/>
              </a:rPr>
              <a:t>：Princeton 等实证可借共享记忆击穿协作 Agent 群组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云端共识 = 新攻击面，这是本设计必须直面的前提</a:t>
            </a:r>
            <a:endParaRPr lang="en-US" sz="1400" noProof="1"/>
          </a:p>
        </p:txBody>
      </p:sp>
      <p:sp>
        <p:nvSpPr>
          <p:cNvPr id="10" name="r2"/>
          <p:cNvSpPr/>
          <p:nvPr/>
        </p:nvSpPr>
        <p:spPr>
          <a:xfrm>
            <a:off x="762000" y="36576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1" name="s3"/>
          <p:cNvSpPr txBox="1"/>
          <p:nvPr/>
        </p:nvSpPr>
        <p:spPr>
          <a:xfrm>
            <a:off x="762000" y="3962400"/>
            <a:ext cx="228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DB0011"/>
                </a:solidFill>
                <a:latin typeface="MiSans"/>
                <a:ea typeface="MiSans"/>
              </a:rPr>
              <a:t>降性能</a:t>
            </a:r>
            <a:endParaRPr lang="en-US" sz="3400" noProof="1"/>
          </a:p>
        </p:txBody>
      </p:sp>
      <p:sp>
        <p:nvSpPr>
          <p:cNvPr id="12" name="s3d"/>
          <p:cNvSpPr txBox="1"/>
          <p:nvPr/>
        </p:nvSpPr>
        <p:spPr>
          <a:xfrm>
            <a:off x="3175000" y="3987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noProof="1" b="1">
                <a:solidFill>
                  <a:srgbClr val="333333"/>
                </a:solidFill>
                <a:latin typeface="MiSans"/>
                <a:ea typeface="MiSans"/>
              </a:rPr>
              <a:t>G-Memory 消融实验</a:t>
            </a:r>
            <a:r>
              <a:rPr lang="en-US" sz="1400" noProof="1">
                <a:solidFill>
                  <a:srgbClr val="333333"/>
                </a:solidFill>
                <a:latin typeface="MiSans"/>
                <a:ea typeface="MiSans"/>
              </a:rPr>
              <a:t>：单机记忆方案直接搬进多 Agent 框架，部分任务反而更差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群体化不能是单机方案的简单放大，聚合语义必须重新设计</a:t>
            </a:r>
            <a:endParaRPr lang="en-US" sz="1400" noProof="1"/>
          </a:p>
        </p:txBody>
      </p:sp>
      <p:sp>
        <p:nvSpPr>
          <p:cNvPr id="13" name="conclusion"/>
          <p:cNvSpPr txBox="1"/>
          <p:nvPr/>
        </p:nvSpPr>
        <p:spPr>
          <a:xfrm>
            <a:off x="762000" y="52578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DB0011"/>
                </a:solidFill>
                <a:latin typeface="MiSans"/>
                <a:ea typeface="MiSans"/>
              </a:rPr>
              <a:t>结论：防御不是附加功能，而是架构的第一约束</a:t>
            </a:r>
            <a:endParaRPr lang="en-US" sz="1600" noProof="1"/>
          </a:p>
        </p:txBody>
      </p:sp>
      <p:sp>
        <p:nvSpPr>
          <p:cNvPr id="14" name="src"/>
          <p:cNvSpPr txBox="1"/>
          <p:nvPr/>
        </p:nvSpPr>
        <p:spPr>
          <a:xfrm>
            <a:off x="762000" y="5689600"/>
            <a:ext cx="1066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77777"/>
                </a:solidFill>
                <a:latin typeface="MiSans"/>
                <a:ea typeface="MiSans"/>
              </a:rPr>
              <a:t>来源：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Murmur, arXiv:2511.17671</a:t>
            </a:r>
            <a:r>
              <a:rPr lang="en-US" sz="1000" noProof="1">
                <a:solidFill>
                  <a:srgbClr val="777777"/>
                </a:solidFill>
                <a:latin typeface="MiSans"/>
                <a:ea typeface="MiSans"/>
              </a:rPr>
              <a:t> · 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4"/>
              </a:rPr>
              <a:t>G-Memory, arXiv:2506.07398</a:t>
            </a:r>
            <a:r>
              <a:rPr lang="en-US" sz="1000" noProof="1">
                <a:solidFill>
                  <a:srgbClr val="777777"/>
                </a:solidFill>
                <a:latin typeface="MiSans"/>
                <a:ea typeface="MiSans"/>
              </a:rPr>
              <a:t> · AgentPoison（NeurIPS 2024）</a:t>
            </a:r>
            <a:endParaRPr lang="en-US" sz="1000" noProof="1"/>
          </a:p>
        </p:txBody>
      </p:sp>
      <p:sp>
        <p:nvSpPr>
          <p:cNvPr id="15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6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云端进化层设计评审</a:t>
            </a:r>
            <a:endParaRPr lang="en-US" sz="1100" noProof="1"/>
          </a:p>
        </p:txBody>
      </p:sp>
      <p:sp>
        <p:nvSpPr>
          <p:cNvPr id="17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03 / 15</a:t>
            </a:r>
            <a:endParaRPr lang="en-US" sz="11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03 · 方案总览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333333"/>
                </a:solidFill>
                <a:latin typeface="MiSans"/>
                <a:ea typeface="MiSans"/>
              </a:rPr>
              <a:t>本地内核 + 可选云端进化层</a:t>
            </a:r>
            <a:endParaRPr lang="en-US" sz="27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clients"/>
          <p:cNvSpPr/>
          <p:nvPr/>
        </p:nvSpPr>
        <p:spPr>
          <a:xfrm>
            <a:off x="762000" y="1600200"/>
            <a:ext cx="4064000" cy="50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</p:sp>
      <p:sp>
        <p:nvSpPr>
          <p:cNvPr id="6" name="clientsT"/>
          <p:cNvSpPr txBox="1"/>
          <p:nvPr/>
        </p:nvSpPr>
        <p:spPr>
          <a:xfrm>
            <a:off x="762000" y="1600200"/>
            <a:ext cx="406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MCP 客户端：Kimi Code · Claude Code · Hermes</a:t>
            </a:r>
            <a:endParaRPr lang="en-US" sz="1200" noProof="1"/>
          </a:p>
        </p:txBody>
      </p:sp>
      <p:sp>
        <p:nvSpPr>
          <p:cNvPr id="7" name="arr1"/>
          <p:cNvSpPr/>
          <p:nvPr>
            <p:extLst>
              <p:ext uri="{F5677B7D-0D2A-4D9B-9A5C-6D8D7D0E5A5D}">
                <pptd:line encoding="base64url">eyJ2aWV3Qm94IjpbMTAsMjJdLCJwb2ludHMiOiI1LDAgNSwyMiJ9</pptd:line>
              </p:ext>
            </p:extLst>
          </p:nvPr>
        </p:nvSpPr>
        <p:spPr>
          <a:xfrm>
            <a:off x="2730500" y="2159000"/>
            <a:ext cx="127000" cy="279400"/>
          </a:xfrm>
          <a:custGeom>
            <a:avLst/>
            <a:gdLst/>
            <a:ahLst/>
            <a:cxnLst/>
            <a:rect l="l" t="t" r="r" b="b"/>
            <a:pathLst>
              <a:path w="10" h="22">
                <a:moveTo>
                  <a:pt x="5" y="0"/>
                </a:moveTo>
                <a:lnTo>
                  <a:pt x="5" y="22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8" name="server"/>
          <p:cNvSpPr/>
          <p:nvPr/>
        </p:nvSpPr>
        <p:spPr>
          <a:xfrm>
            <a:off x="762000" y="2489200"/>
            <a:ext cx="4064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9" name="serverT"/>
          <p:cNvSpPr txBox="1"/>
          <p:nvPr/>
        </p:nvSpPr>
        <p:spPr>
          <a:xfrm>
            <a:off x="762000" y="2489200"/>
            <a:ext cx="406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MCP Server（FastMCP · stdio / HTTP）</a:t>
            </a:r>
            <a:endParaRPr lang="en-US" sz="1200" noProof="1"/>
          </a:p>
        </p:txBody>
      </p:sp>
      <p:sp>
        <p:nvSpPr>
          <p:cNvPr id="10" name="arr2"/>
          <p:cNvSpPr/>
          <p:nvPr>
            <p:extLst>
              <p:ext uri="{F5677B7D-0D2A-4D9B-9A5C-6D8D7D0E5A5D}">
                <pptd:line encoding="base64url">eyJ2aWV3Qm94IjpbMTAsMjJdLCJwb2ludHMiOiI1LDAgNSwyMiJ9</pptd:line>
              </p:ext>
            </p:extLst>
          </p:nvPr>
        </p:nvSpPr>
        <p:spPr>
          <a:xfrm>
            <a:off x="2730500" y="2997200"/>
            <a:ext cx="127000" cy="279400"/>
          </a:xfrm>
          <a:custGeom>
            <a:avLst/>
            <a:gdLst/>
            <a:ahLst/>
            <a:cxnLst/>
            <a:rect l="l" t="t" r="r" b="b"/>
            <a:pathLst>
              <a:path w="10" h="22">
                <a:moveTo>
                  <a:pt x="5" y="0"/>
                </a:moveTo>
                <a:lnTo>
                  <a:pt x="5" y="22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11" name="localBand"/>
          <p:cNvSpPr/>
          <p:nvPr/>
        </p:nvSpPr>
        <p:spPr>
          <a:xfrm>
            <a:off x="508000" y="3327400"/>
            <a:ext cx="7112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</p:sp>
      <p:sp>
        <p:nvSpPr>
          <p:cNvPr id="12" name="localLabel"/>
          <p:cNvSpPr txBox="1"/>
          <p:nvPr/>
        </p:nvSpPr>
        <p:spPr>
          <a:xfrm>
            <a:off x="711200" y="3429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777777"/>
                </a:solidFill>
                <a:latin typeface="MiSans"/>
                <a:ea typeface="MiSans"/>
              </a:rPr>
              <a:t>本地层（~/.memory-hub/ · 已实现 v0.1.0）</a:t>
            </a:r>
            <a:endParaRPr lang="en-US" sz="1100" noProof="1"/>
          </a:p>
        </p:txBody>
      </p:sp>
      <p:sp>
        <p:nvSpPr>
          <p:cNvPr id="13" name="m1"/>
          <p:cNvSpPr/>
          <p:nvPr/>
        </p:nvSpPr>
        <p:spPr>
          <a:xfrm>
            <a:off x="711200" y="3733800"/>
            <a:ext cx="1574800" cy="609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</p:sp>
      <p:sp>
        <p:nvSpPr>
          <p:cNvPr id="14" name="m1T"/>
          <p:cNvSpPr txBox="1"/>
          <p:nvPr/>
        </p:nvSpPr>
        <p:spPr>
          <a:xfrm>
            <a:off x="711200" y="3733800"/>
            <a:ext cx="15748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100" noProof="1" b="1">
                <a:solidFill>
                  <a:srgbClr val="333333"/>
                </a:solidFill>
                <a:latin typeface="MiSans"/>
                <a:ea typeface="MiSans"/>
              </a:rPr>
              <a:t>M1 MemoryStore</a:t>
            </a:r>
            <a:endParaRPr lang="en-US" sz="1100" noProof="1"/>
          </a:p>
          <a:p>
            <a:pPr algn="ctr">
              <a:lnSpc>
                <a:spcPct val="130000"/>
              </a:lnSpc>
            </a:pPr>
            <a:r>
              <a:rPr lang="en-US" sz="1100" noProof="1">
                <a:solidFill>
                  <a:srgbClr val="333333"/>
                </a:solidFill>
                <a:latin typeface="MiSans"/>
                <a:ea typeface="MiSans"/>
              </a:rPr>
              <a:t>文件记忆内核</a:t>
            </a:r>
            <a:endParaRPr lang="en-US" sz="1100" noProof="1"/>
          </a:p>
        </p:txBody>
      </p:sp>
      <p:sp>
        <p:nvSpPr>
          <p:cNvPr id="15" name="m2"/>
          <p:cNvSpPr/>
          <p:nvPr/>
        </p:nvSpPr>
        <p:spPr>
          <a:xfrm>
            <a:off x="2438400" y="3733800"/>
            <a:ext cx="1574800" cy="609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</p:sp>
      <p:sp>
        <p:nvSpPr>
          <p:cNvPr id="16" name="m2T"/>
          <p:cNvSpPr txBox="1"/>
          <p:nvPr/>
        </p:nvSpPr>
        <p:spPr>
          <a:xfrm>
            <a:off x="2438400" y="3733800"/>
            <a:ext cx="15748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100" noProof="1" b="1">
                <a:solidFill>
                  <a:srgbClr val="333333"/>
                </a:solidFill>
                <a:latin typeface="MiSans"/>
                <a:ea typeface="MiSans"/>
              </a:rPr>
              <a:t>M2 Provider</a:t>
            </a:r>
            <a:endParaRPr lang="en-US" sz="1100" noProof="1"/>
          </a:p>
          <a:p>
            <a:pPr algn="ctr">
              <a:lnSpc>
                <a:spcPct val="130000"/>
              </a:lnSpc>
            </a:pPr>
            <a:r>
              <a:rPr lang="en-US" sz="1100" noProof="1">
                <a:solidFill>
                  <a:srgbClr val="333333"/>
                </a:solidFill>
                <a:latin typeface="MiSans"/>
                <a:ea typeface="MiSans"/>
              </a:rPr>
              <a:t>holographic 事实库</a:t>
            </a:r>
            <a:endParaRPr lang="en-US" sz="1100" noProof="1"/>
          </a:p>
        </p:txBody>
      </p:sp>
      <p:sp>
        <p:nvSpPr>
          <p:cNvPr id="17" name="m3"/>
          <p:cNvSpPr/>
          <p:nvPr/>
        </p:nvSpPr>
        <p:spPr>
          <a:xfrm>
            <a:off x="4165600" y="3733800"/>
            <a:ext cx="1574800" cy="609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</p:sp>
      <p:sp>
        <p:nvSpPr>
          <p:cNvPr id="18" name="m3T"/>
          <p:cNvSpPr txBox="1"/>
          <p:nvPr/>
        </p:nvSpPr>
        <p:spPr>
          <a:xfrm>
            <a:off x="4165600" y="3733800"/>
            <a:ext cx="15748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100" noProof="1" b="1">
                <a:solidFill>
                  <a:srgbClr val="333333"/>
                </a:solidFill>
                <a:latin typeface="MiSans"/>
                <a:ea typeface="MiSans"/>
              </a:rPr>
              <a:t>M3 Evolution</a:t>
            </a:r>
            <a:endParaRPr lang="en-US" sz="1100" noProof="1"/>
          </a:p>
          <a:p>
            <a:pPr algn="ctr">
              <a:lnSpc>
                <a:spcPct val="130000"/>
              </a:lnSpc>
            </a:pPr>
            <a:r>
              <a:rPr lang="en-US" sz="1100" noProof="1">
                <a:solidFill>
                  <a:srgbClr val="333333"/>
                </a:solidFill>
                <a:latin typeface="MiSans"/>
                <a:ea typeface="MiSans"/>
              </a:rPr>
              <a:t>自省 / 策略 / 治理</a:t>
            </a:r>
            <a:endParaRPr lang="en-US" sz="1100" noProof="1"/>
          </a:p>
        </p:txBody>
      </p:sp>
      <p:sp>
        <p:nvSpPr>
          <p:cNvPr id="19" name="gate"/>
          <p:cNvSpPr/>
          <p:nvPr/>
        </p:nvSpPr>
        <p:spPr>
          <a:xfrm>
            <a:off x="5892800" y="3733800"/>
            <a:ext cx="1524000" cy="609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0011"/>
            </a:solidFill>
          </a:ln>
        </p:spPr>
      </p:sp>
      <p:sp>
        <p:nvSpPr>
          <p:cNvPr id="20" name="gateT"/>
          <p:cNvSpPr txBox="1"/>
          <p:nvPr/>
        </p:nvSpPr>
        <p:spPr>
          <a:xfrm>
            <a:off x="5892800" y="3733800"/>
            <a:ext cx="1524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100" noProof="1" b="1">
                <a:solidFill>
                  <a:srgbClr val="DB0011"/>
                </a:solidFill>
                <a:latin typeface="MiSans"/>
                <a:ea typeface="MiSans"/>
              </a:rPr>
              <a:t>Cloud Gate</a:t>
            </a:r>
            <a:endParaRPr lang="en-US" sz="1100" noProof="1"/>
          </a:p>
          <a:p>
            <a:pPr algn="ctr">
              <a:lnSpc>
                <a:spcPct val="130000"/>
              </a:lnSpc>
            </a:pPr>
            <a:r>
              <a:rPr lang="en-US" sz="1100" noProof="1">
                <a:solidFill>
                  <a:srgbClr val="DB0011"/>
                </a:solidFill>
                <a:latin typeface="MiSans"/>
                <a:ea typeface="MiSans"/>
              </a:rPr>
              <a:t>上行闸 + TEAM.md</a:t>
            </a:r>
            <a:endParaRPr lang="en-US" sz="1100" noProof="1"/>
          </a:p>
        </p:txBody>
      </p:sp>
      <p:sp>
        <p:nvSpPr>
          <p:cNvPr id="21" name="files"/>
          <p:cNvSpPr txBox="1"/>
          <p:nvPr/>
        </p:nvSpPr>
        <p:spPr>
          <a:xfrm>
            <a:off x="711200" y="4521200"/>
            <a:ext cx="6705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77777"/>
                </a:solidFill>
                <a:latin typeface="JetBrains Mono"/>
                <a:ea typeface="JetBrains Mono"/>
              </a:rPr>
              <a:t>MEMORY.md · USER.md · TEAM.md · review_queue.json · hub.db</a:t>
            </a:r>
            <a:endParaRPr lang="en-US" sz="1000" noProof="1"/>
          </a:p>
        </p:txBody>
      </p:sp>
      <p:sp>
        <p:nvSpPr>
          <p:cNvPr id="22" name="localNote"/>
          <p:cNvSpPr txBox="1"/>
          <p:nvPr/>
        </p:nvSpPr>
        <p:spPr>
          <a:xfrm>
            <a:off x="711200" y="4851400"/>
            <a:ext cx="6705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个人记忆与转录</a:t>
            </a:r>
            <a:r>
              <a:rPr lang="en-US" sz="1100" noProof="1" b="1">
                <a:solidFill>
                  <a:srgbClr val="777777"/>
                </a:solidFill>
                <a:latin typeface="MiSans"/>
                <a:ea typeface="MiSans"/>
              </a:rPr>
              <a:t>永不上行</a:t>
            </a: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；云端功能默认全关、逐项 opt-in；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断网时云端关闭，</a:t>
            </a:r>
            <a:r>
              <a:rPr lang="en-US" sz="1100" noProof="1" b="1">
                <a:solidFill>
                  <a:srgbClr val="DB0011"/>
                </a:solidFill>
                <a:latin typeface="MiSans"/>
                <a:ea typeface="MiSans"/>
              </a:rPr>
              <a:t>本地功能零损失</a:t>
            </a: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。</a:t>
            </a:r>
            <a:endParaRPr lang="en-US" sz="1100" noProof="1"/>
          </a:p>
        </p:txBody>
      </p:sp>
      <p:sp>
        <p:nvSpPr>
          <p:cNvPr id="23" name="cloudBand"/>
          <p:cNvSpPr/>
          <p:nvPr/>
        </p:nvSpPr>
        <p:spPr>
          <a:xfrm>
            <a:off x="8001000" y="1600200"/>
            <a:ext cx="3683000" cy="4140200"/>
          </a:xfrm>
          <a:prstGeom prst="rect">
            <a:avLst/>
          </a:prstGeom>
          <a:solidFill>
            <a:srgbClr val="F5F5F5"/>
          </a:solidFill>
          <a:ln w="19050">
            <a:solidFill>
              <a:srgbClr val="DB0011"/>
            </a:solidFill>
          </a:ln>
        </p:spPr>
      </p:sp>
      <p:sp>
        <p:nvSpPr>
          <p:cNvPr id="24" name="cloudLabel"/>
          <p:cNvSpPr txBox="1"/>
          <p:nvPr/>
        </p:nvSpPr>
        <p:spPr>
          <a:xfrm>
            <a:off x="8204200" y="17018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DB0011"/>
                </a:solidFill>
                <a:latin typeface="MiSans"/>
                <a:ea typeface="MiSans"/>
              </a:rPr>
              <a:t>云端进化层（可选 · 草案）</a:t>
            </a:r>
            <a:endParaRPr lang="en-US" sz="1100" noProof="1"/>
          </a:p>
        </p:txBody>
      </p:sp>
      <p:sp>
        <p:nvSpPr>
          <p:cNvPr id="25" name="c1"/>
          <p:cNvSpPr/>
          <p:nvPr/>
        </p:nvSpPr>
        <p:spPr>
          <a:xfrm>
            <a:off x="8204200" y="2032000"/>
            <a:ext cx="32766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</p:sp>
      <p:sp>
        <p:nvSpPr>
          <p:cNvPr id="26" name="c1T"/>
          <p:cNvSpPr txBox="1"/>
          <p:nvPr/>
        </p:nvSpPr>
        <p:spPr>
          <a:xfrm>
            <a:off x="8204200" y="2032000"/>
            <a:ext cx="3276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333333"/>
                </a:solidFill>
                <a:latin typeface="MiSans"/>
                <a:ea typeface="MiSans"/>
              </a:rPr>
              <a:t>隔离候选区（独立来源 &lt; k 永不出区）</a:t>
            </a:r>
            <a:endParaRPr lang="en-US" sz="1100" noProof="1"/>
          </a:p>
        </p:txBody>
      </p:sp>
      <p:sp>
        <p:nvSpPr>
          <p:cNvPr id="27" name="ca1"/>
          <p:cNvSpPr/>
          <p:nvPr>
            <p:extLst>
              <p:ext uri="{F5677B7D-0D2A-4D9B-9A5C-6D8D7D0E5A5D}">
                <pptd:line encoding="base64url">eyJ2aWV3Qm94IjpbMTAsMThdLCJwb2ludHMiOiI1LDAgNSwxOCJ9</pptd:line>
              </p:ext>
            </p:extLst>
          </p:nvPr>
        </p:nvSpPr>
        <p:spPr>
          <a:xfrm>
            <a:off x="9779000" y="2565400"/>
            <a:ext cx="127000" cy="228600"/>
          </a:xfrm>
          <a:custGeom>
            <a:avLst/>
            <a:gdLst/>
            <a:ahLst/>
            <a:cxnLst/>
            <a:rect l="l" t="t" r="r" b="b"/>
            <a:pathLst>
              <a:path w="10" h="18">
                <a:moveTo>
                  <a:pt x="5" y="0"/>
                </a:moveTo>
                <a:lnTo>
                  <a:pt x="5" y="18"/>
                </a:lnTo>
              </a:path>
            </a:pathLst>
          </a:custGeom>
          <a:noFill/>
          <a:ln w="19050" cap="rnd">
            <a:solidFill>
              <a:srgbClr val="DB0011"/>
            </a:solidFill>
            <a:round/>
            <a:tailEnd type="arrow"/>
          </a:ln>
        </p:spPr>
      </p:sp>
      <p:sp>
        <p:nvSpPr>
          <p:cNvPr id="28" name="c2"/>
          <p:cNvSpPr/>
          <p:nvPr/>
        </p:nvSpPr>
        <p:spPr>
          <a:xfrm>
            <a:off x="8204200" y="2844800"/>
            <a:ext cx="32766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</p:sp>
      <p:sp>
        <p:nvSpPr>
          <p:cNvPr id="29" name="c2T"/>
          <p:cNvSpPr txBox="1"/>
          <p:nvPr/>
        </p:nvSpPr>
        <p:spPr>
          <a:xfrm>
            <a:off x="8204200" y="2844800"/>
            <a:ext cx="3276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333333"/>
                </a:solidFill>
                <a:latin typeface="MiSans"/>
                <a:ea typeface="MiSans"/>
              </a:rPr>
              <a:t>k-匿名聚合 + 蒸馏（gen ≤ 2）</a:t>
            </a:r>
            <a:endParaRPr lang="en-US" sz="1100" noProof="1"/>
          </a:p>
        </p:txBody>
      </p:sp>
      <p:sp>
        <p:nvSpPr>
          <p:cNvPr id="30" name="ca2"/>
          <p:cNvSpPr/>
          <p:nvPr>
            <p:extLst>
              <p:ext uri="{F5677B7D-0D2A-4D9B-9A5C-6D8D7D0E5A5D}">
                <pptd:line encoding="base64url">eyJ2aWV3Qm94IjpbMTAsMThdLCJwb2ludHMiOiI1LDAgNSwxOCJ9</pptd:line>
              </p:ext>
            </p:extLst>
          </p:nvPr>
        </p:nvSpPr>
        <p:spPr>
          <a:xfrm>
            <a:off x="9779000" y="3378200"/>
            <a:ext cx="127000" cy="228600"/>
          </a:xfrm>
          <a:custGeom>
            <a:avLst/>
            <a:gdLst/>
            <a:ahLst/>
            <a:cxnLst/>
            <a:rect l="l" t="t" r="r" b="b"/>
            <a:pathLst>
              <a:path w="10" h="18">
                <a:moveTo>
                  <a:pt x="5" y="0"/>
                </a:moveTo>
                <a:lnTo>
                  <a:pt x="5" y="18"/>
                </a:lnTo>
              </a:path>
            </a:pathLst>
          </a:custGeom>
          <a:noFill/>
          <a:ln w="19050" cap="rnd">
            <a:solidFill>
              <a:srgbClr val="DB0011"/>
            </a:solidFill>
            <a:round/>
            <a:tailEnd type="arrow"/>
          </a:ln>
        </p:spPr>
      </p:sp>
      <p:sp>
        <p:nvSpPr>
          <p:cNvPr id="31" name="c3"/>
          <p:cNvSpPr/>
          <p:nvPr/>
        </p:nvSpPr>
        <p:spPr>
          <a:xfrm>
            <a:off x="8204200" y="3657600"/>
            <a:ext cx="32766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</p:sp>
      <p:sp>
        <p:nvSpPr>
          <p:cNvPr id="32" name="c3T"/>
          <p:cNvSpPr txBox="1"/>
          <p:nvPr/>
        </p:nvSpPr>
        <p:spPr>
          <a:xfrm>
            <a:off x="8204200" y="3657600"/>
            <a:ext cx="3276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333333"/>
                </a:solidFill>
                <a:latin typeface="MiSans"/>
                <a:ea typeface="MiSans"/>
              </a:rPr>
              <a:t>团队共识库（分层 · 分频道）</a:t>
            </a:r>
            <a:endParaRPr lang="en-US" sz="1100" noProof="1"/>
          </a:p>
        </p:txBody>
      </p:sp>
      <p:sp>
        <p:nvSpPr>
          <p:cNvPr id="33" name="ca3"/>
          <p:cNvSpPr/>
          <p:nvPr>
            <p:extLst>
              <p:ext uri="{F5677B7D-0D2A-4D9B-9A5C-6D8D7D0E5A5D}">
                <pptd:line encoding="base64url">eyJ2aWV3Qm94IjpbMTAsMThdLCJwb2ludHMiOiI1LDAgNSwxOCJ9</pptd:line>
              </p:ext>
            </p:extLst>
          </p:nvPr>
        </p:nvSpPr>
        <p:spPr>
          <a:xfrm>
            <a:off x="9779000" y="4191000"/>
            <a:ext cx="127000" cy="228600"/>
          </a:xfrm>
          <a:custGeom>
            <a:avLst/>
            <a:gdLst/>
            <a:ahLst/>
            <a:cxnLst/>
            <a:rect l="l" t="t" r="r" b="b"/>
            <a:pathLst>
              <a:path w="10" h="18">
                <a:moveTo>
                  <a:pt x="5" y="0"/>
                </a:moveTo>
                <a:lnTo>
                  <a:pt x="5" y="18"/>
                </a:lnTo>
              </a:path>
            </a:pathLst>
          </a:custGeom>
          <a:noFill/>
          <a:ln w="19050" cap="rnd">
            <a:solidFill>
              <a:srgbClr val="DB0011"/>
            </a:solidFill>
            <a:round/>
            <a:tailEnd type="arrow"/>
          </a:ln>
        </p:spPr>
      </p:sp>
      <p:sp>
        <p:nvSpPr>
          <p:cNvPr id="34" name="c4"/>
          <p:cNvSpPr/>
          <p:nvPr/>
        </p:nvSpPr>
        <p:spPr>
          <a:xfrm>
            <a:off x="8204200" y="4470400"/>
            <a:ext cx="32766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</p:sp>
      <p:sp>
        <p:nvSpPr>
          <p:cNvPr id="35" name="c4T"/>
          <p:cNvSpPr txBox="1"/>
          <p:nvPr/>
        </p:nvSpPr>
        <p:spPr>
          <a:xfrm>
            <a:off x="8204200" y="4470400"/>
            <a:ext cx="3276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333333"/>
                </a:solidFill>
                <a:latin typeface="MiSans"/>
                <a:ea typeface="MiSans"/>
              </a:rPr>
              <a:t>自然选择（TTL · 反证 · 淘汰）</a:t>
            </a:r>
            <a:endParaRPr lang="en-US" sz="1100" noProof="1"/>
          </a:p>
        </p:txBody>
      </p:sp>
      <p:sp>
        <p:nvSpPr>
          <p:cNvPr id="36" name="cloudDefense"/>
          <p:cNvSpPr txBox="1"/>
          <p:nvPr/>
        </p:nvSpPr>
        <p:spPr>
          <a:xfrm>
            <a:off x="8204200" y="5130800"/>
            <a:ext cx="3276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77777"/>
                </a:solidFill>
                <a:latin typeface="MiSans"/>
                <a:ea typeface="MiSans"/>
              </a:rPr>
              <a:t>防御：信誉加权 · Sybil 检测 · Canary 蜜罐</a:t>
            </a:r>
            <a:endParaRPr lang="en-US" sz="10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77777"/>
                </a:solidFill>
                <a:latin typeface="MiSans"/>
                <a:ea typeface="MiSans"/>
              </a:rPr>
              <a:t>分发：频道订阅 · 签名 delta · 按需 pull</a:t>
            </a:r>
            <a:endParaRPr lang="en-US" sz="1000" noProof="1"/>
          </a:p>
        </p:txBody>
      </p:sp>
      <p:sp>
        <p:nvSpPr>
          <p:cNvPr id="37" name="upArrow"/>
          <p:cNvSpPr/>
          <p:nvPr>
            <p:extLst>
              <p:ext uri="{F5677B7D-0D2A-4D9B-9A5C-6D8D7D0E5A5D}">
                <pptd:line encoding="base64url">eyJ2aWV3Qm94IjpbMjgsMTBdLCJwb2ludHMiOiIwLDUgMjgsNSJ9</pptd:line>
              </p:ext>
            </p:extLst>
          </p:nvPr>
        </p:nvSpPr>
        <p:spPr>
          <a:xfrm>
            <a:off x="7620000" y="3810000"/>
            <a:ext cx="355600" cy="127000"/>
          </a:xfrm>
          <a:custGeom>
            <a:avLst/>
            <a:gdLst/>
            <a:ahLst/>
            <a:cxnLst/>
            <a:rect l="l" t="t" r="r" b="b"/>
            <a:pathLst>
              <a:path w="28" h="10">
                <a:moveTo>
                  <a:pt x="0" y="5"/>
                </a:moveTo>
                <a:lnTo>
                  <a:pt x="28" y="5"/>
                </a:lnTo>
              </a:path>
            </a:pathLst>
          </a:custGeom>
          <a:noFill/>
          <a:ln w="25400" cap="rnd">
            <a:solidFill>
              <a:srgbClr val="DB0011"/>
            </a:solidFill>
            <a:round/>
            <a:tailEnd type="arrow"/>
          </a:ln>
        </p:spPr>
      </p:sp>
      <p:sp>
        <p:nvSpPr>
          <p:cNvPr id="38" name="upLabel"/>
          <p:cNvSpPr txBox="1"/>
          <p:nvPr/>
        </p:nvSpPr>
        <p:spPr>
          <a:xfrm>
            <a:off x="6172200" y="3581400"/>
            <a:ext cx="1320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DB0011"/>
                </a:solidFill>
                <a:latin typeface="MiSans"/>
                <a:ea typeface="MiSans"/>
              </a:rPr>
              <a:t>上行：白名单+审批</a:t>
            </a:r>
            <a:endParaRPr lang="en-US" sz="900" noProof="1"/>
          </a:p>
        </p:txBody>
      </p:sp>
      <p:sp>
        <p:nvSpPr>
          <p:cNvPr id="39" name="downArrow"/>
          <p:cNvSpPr/>
          <p:nvPr>
            <p:extLst>
              <p:ext uri="{F5677B7D-0D2A-4D9B-9A5C-6D8D7D0E5A5D}">
                <pptd:line encoding="base64url">eyJ2aWV3Qm94IjpbMjgsMTBdLCJwb2ludHMiOiIyOCw1IDAsNSJ9</pptd:line>
              </p:ext>
            </p:extLst>
          </p:nvPr>
        </p:nvSpPr>
        <p:spPr>
          <a:xfrm>
            <a:off x="7620000" y="4318000"/>
            <a:ext cx="355600" cy="127000"/>
          </a:xfrm>
          <a:custGeom>
            <a:avLst/>
            <a:gdLst/>
            <a:ahLst/>
            <a:cxnLst/>
            <a:rect l="l" t="t" r="r" b="b"/>
            <a:pathLst>
              <a:path w="28" h="10">
                <a:moveTo>
                  <a:pt x="28" y="5"/>
                </a:moveTo>
                <a:lnTo>
                  <a:pt x="0" y="5"/>
                </a:lnTo>
              </a:path>
            </a:pathLst>
          </a:custGeom>
          <a:noFill/>
          <a:ln w="25400" cap="rnd">
            <a:solidFill>
              <a:srgbClr val="777777"/>
            </a:solidFill>
            <a:round/>
            <a:tailEnd type="arrow"/>
          </a:ln>
        </p:spPr>
      </p:sp>
      <p:sp>
        <p:nvSpPr>
          <p:cNvPr id="40" name="downLabel"/>
          <p:cNvSpPr txBox="1"/>
          <p:nvPr/>
        </p:nvSpPr>
        <p:spPr>
          <a:xfrm>
            <a:off x="5969000" y="45466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77777"/>
                </a:solidFill>
                <a:latin typeface="MiSans"/>
                <a:ea typeface="MiSans"/>
              </a:rPr>
              <a:t>下行：签名 delta+审批</a:t>
            </a:r>
            <a:endParaRPr lang="en-US" sz="900" noProof="1"/>
          </a:p>
        </p:txBody>
      </p:sp>
      <p:sp>
        <p:nvSpPr>
          <p:cNvPr id="41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42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云端进化层设计评审</a:t>
            </a:r>
            <a:endParaRPr lang="en-US" sz="1100" noProof="1"/>
          </a:p>
        </p:txBody>
      </p:sp>
      <p:sp>
        <p:nvSpPr>
          <p:cNvPr id="43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04 / 15</a:t>
            </a:r>
            <a:endParaRPr lang="en-US" sz="11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04 · 核心模块 1/2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333333"/>
                </a:solidFill>
                <a:latin typeface="MiSans"/>
                <a:ea typeface="MiSans"/>
              </a:rPr>
              <a:t>文件记忆内核：双态模型保前缀缓存</a:t>
            </a:r>
            <a:endParaRPr lang="en-US" sz="27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snap"/>
          <p:cNvSpPr/>
          <p:nvPr/>
        </p:nvSpPr>
        <p:spPr>
          <a:xfrm>
            <a:off x="762000" y="1778000"/>
            <a:ext cx="3302000" cy="1168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</p:sp>
      <p:sp>
        <p:nvSpPr>
          <p:cNvPr id="6" name="snapT"/>
          <p:cNvSpPr txBox="1"/>
          <p:nvPr/>
        </p:nvSpPr>
        <p:spPr>
          <a:xfrm>
            <a:off x="965200" y="1930400"/>
            <a:ext cx="2921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快照态（冻结）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会话开始时从磁盘构建，注入系统提示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DB0011"/>
                </a:solidFill>
                <a:latin typeface="MiSans"/>
                <a:ea typeface="MiSans"/>
              </a:rPr>
              <a:t>会话全程不变 → 前缀缓存（省算力）稳定</a:t>
            </a:r>
            <a:endParaRPr lang="en-US" sz="1200" noProof="1"/>
          </a:p>
        </p:txBody>
      </p:sp>
      <p:sp>
        <p:nvSpPr>
          <p:cNvPr id="7" name="live"/>
          <p:cNvSpPr/>
          <p:nvPr/>
        </p:nvSpPr>
        <p:spPr>
          <a:xfrm>
            <a:off x="762000" y="3327400"/>
            <a:ext cx="3302000" cy="1168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0011"/>
            </a:solidFill>
          </a:ln>
        </p:spPr>
      </p:sp>
      <p:sp>
        <p:nvSpPr>
          <p:cNvPr id="8" name="liveT"/>
          <p:cNvSpPr txBox="1"/>
          <p:nvPr/>
        </p:nvSpPr>
        <p:spPr>
          <a:xfrm>
            <a:off x="965200" y="3479800"/>
            <a:ext cx="2921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实时态（可写）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add / replace / remove / batch 只改实时态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写盘走：锁 → 漂移检测 → 预算校验 → 原子写</a:t>
            </a:r>
            <a:endParaRPr lang="en-US" sz="1200" noProof="1"/>
          </a:p>
        </p:txBody>
      </p:sp>
      <p:sp>
        <p:nvSpPr>
          <p:cNvPr id="9" name="arrowSL"/>
          <p:cNvSpPr/>
          <p:nvPr>
            <p:extLst>
              <p:ext uri="{F5677B7D-0D2A-4D9B-9A5C-6D8D7D0E5A5D}">
                <pptd:line encoding="base64url">eyJ2aWV3Qm94IjpbMTAsMjJdLCJwb2ludHMiOiI1LDAgNSwyMiJ9</pptd:line>
              </p:ext>
            </p:extLst>
          </p:nvPr>
        </p:nvSpPr>
        <p:spPr>
          <a:xfrm>
            <a:off x="2349500" y="2997200"/>
            <a:ext cx="127000" cy="279400"/>
          </a:xfrm>
          <a:custGeom>
            <a:avLst/>
            <a:gdLst/>
            <a:ahLst/>
            <a:cxnLst/>
            <a:rect l="l" t="t" r="r" b="b"/>
            <a:pathLst>
              <a:path w="10" h="22">
                <a:moveTo>
                  <a:pt x="5" y="0"/>
                </a:moveTo>
                <a:lnTo>
                  <a:pt x="5" y="22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10" name="arrowLbl"/>
          <p:cNvSpPr txBox="1"/>
          <p:nvPr/>
        </p:nvSpPr>
        <p:spPr>
          <a:xfrm>
            <a:off x="2540000" y="30226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77777"/>
                </a:solidFill>
                <a:latin typeface="MiSans"/>
                <a:ea typeface="MiSans"/>
              </a:rPr>
              <a:t>写操作只进实时态</a:t>
            </a:r>
            <a:endParaRPr lang="en-US" sz="1000" noProof="1"/>
          </a:p>
        </p:txBody>
      </p:sp>
      <p:sp>
        <p:nvSpPr>
          <p:cNvPr id="11" name="divV"/>
          <p:cNvSpPr/>
          <p:nvPr/>
        </p:nvSpPr>
        <p:spPr>
          <a:xfrm>
            <a:off x="4826000" y="1778000"/>
            <a:ext cx="12700" cy="381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2" name="stat1"/>
          <p:cNvSpPr txBox="1"/>
          <p:nvPr/>
        </p:nvSpPr>
        <p:spPr>
          <a:xfrm>
            <a:off x="5334000" y="18542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DB0011"/>
                </a:solidFill>
                <a:latin typeface="JetBrains Mono"/>
                <a:ea typeface="JetBrains Mono"/>
              </a:rPr>
              <a:t>2200 / 1375</a:t>
            </a:r>
            <a:endParaRPr lang="en-US" sz="3000" noProof="1"/>
          </a:p>
        </p:txBody>
      </p:sp>
      <p:sp>
        <p:nvSpPr>
          <p:cNvPr id="13" name="stat1d"/>
          <p:cNvSpPr txBox="1"/>
          <p:nvPr/>
        </p:nvSpPr>
        <p:spPr>
          <a:xfrm>
            <a:off x="5334000" y="2413000"/>
            <a:ext cx="609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777777"/>
                </a:solidFill>
                <a:latin typeface="MiSans"/>
                <a:ea typeface="MiSans"/>
              </a:rPr>
              <a:t>字符预算（MEMORY / USER）：用字符非 token，保证模型无关性</a:t>
            </a:r>
            <a:endParaRPr lang="en-US" sz="1300" noProof="1"/>
          </a:p>
        </p:txBody>
      </p:sp>
      <p:sp>
        <p:nvSpPr>
          <p:cNvPr id="14" name="stat2"/>
          <p:cNvSpPr txBox="1"/>
          <p:nvPr/>
        </p:nvSpPr>
        <p:spPr>
          <a:xfrm>
            <a:off x="5334000" y="31242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DB0011"/>
                </a:solidFill>
                <a:latin typeface="MiSans"/>
                <a:ea typeface="MiSans"/>
              </a:rPr>
              <a:t>三重防护</a:t>
            </a:r>
            <a:endParaRPr lang="en-US" sz="3000" noProof="1"/>
          </a:p>
        </p:txBody>
      </p:sp>
      <p:sp>
        <p:nvSpPr>
          <p:cNvPr id="15" name="stat2d"/>
          <p:cNvSpPr txBox="1"/>
          <p:nvPr/>
        </p:nvSpPr>
        <p:spPr>
          <a:xfrm>
            <a:off x="5334000" y="3683000"/>
            <a:ext cx="609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777777"/>
                </a:solidFill>
                <a:latin typeface="MiSans"/>
                <a:ea typeface="MiSans"/>
              </a:rPr>
              <a:t>原子写 + 文件锁 + 漂移检测：防丢、防并发损坏、防外部篡改被静默覆盖</a:t>
            </a:r>
            <a:endParaRPr lang="en-US" sz="1300" noProof="1"/>
          </a:p>
        </p:txBody>
      </p:sp>
      <p:sp>
        <p:nvSpPr>
          <p:cNvPr id="16" name="stat3"/>
          <p:cNvSpPr txBox="1"/>
          <p:nvPr/>
        </p:nvSpPr>
        <p:spPr>
          <a:xfrm>
            <a:off x="5334000" y="43942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DB0011"/>
                </a:solidFill>
                <a:latin typeface="JetBrains Mono"/>
                <a:ea typeface="JetBrains Mono"/>
              </a:rPr>
              <a:t>.md</a:t>
            </a:r>
            <a:endParaRPr lang="en-US" sz="3000" noProof="1"/>
          </a:p>
        </p:txBody>
      </p:sp>
      <p:sp>
        <p:nvSpPr>
          <p:cNvPr id="17" name="stat3d"/>
          <p:cNvSpPr txBox="1"/>
          <p:nvPr/>
        </p:nvSpPr>
        <p:spPr>
          <a:xfrm>
            <a:off x="5334000" y="4953000"/>
            <a:ext cx="609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777777"/>
                </a:solidFill>
                <a:latin typeface="MiSans"/>
                <a:ea typeface="MiSans"/>
              </a:rPr>
              <a:t>主记忆是 Markdown：人类可直接阅读、编辑、git 版本控制</a:t>
            </a:r>
            <a:endParaRPr lang="en-US" sz="1300" noProof="1"/>
          </a:p>
        </p:txBody>
      </p:sp>
      <p:sp>
        <p:nvSpPr>
          <p:cNvPr id="18" name="conclusion"/>
          <p:cNvSpPr txBox="1"/>
          <p:nvPr/>
        </p:nvSpPr>
        <p:spPr>
          <a:xfrm>
            <a:off x="762000" y="5740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DB0011"/>
                </a:solidFill>
                <a:latin typeface="MiSans"/>
                <a:ea typeface="MiSans"/>
              </a:rPr>
              <a:t>取舍明确：会话中记忆新鲜度，让位于上下文缓存稳定性</a:t>
            </a:r>
            <a:endParaRPr lang="en-US" sz="1500" noProof="1"/>
          </a:p>
        </p:txBody>
      </p:sp>
      <p:sp>
        <p:nvSpPr>
          <p:cNvPr id="19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20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云端进化层设计评审</a:t>
            </a:r>
            <a:endParaRPr lang="en-US" sz="1100" noProof="1"/>
          </a:p>
        </p:txBody>
      </p:sp>
      <p:sp>
        <p:nvSpPr>
          <p:cNvPr id="21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05 / 15</a:t>
            </a:r>
            <a:endParaRPr lang="en-US" sz="11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04 · 核心模块 2/2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333333"/>
                </a:solidFill>
                <a:latin typeface="MiSans"/>
                <a:ea typeface="MiSans"/>
              </a:rPr>
              <a:t>进化循环：LLM 起草，用户落锤</a:t>
            </a:r>
            <a:endParaRPr lang="en-US" sz="27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src1"/>
          <p:cNvSpPr/>
          <p:nvPr/>
        </p:nvSpPr>
        <p:spPr>
          <a:xfrm>
            <a:off x="762000" y="1905000"/>
            <a:ext cx="1905000" cy="254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</p:sp>
      <p:sp>
        <p:nvSpPr>
          <p:cNvPr id="6" name="src1T"/>
          <p:cNvSpPr txBox="1"/>
          <p:nvPr/>
        </p:nvSpPr>
        <p:spPr>
          <a:xfrm>
            <a:off x="914400" y="2057400"/>
            <a:ext cx="1600200" cy="223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输入原料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会话转录 transcripts/*.jsonl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（按天文件 + 水位偏移，不漏审不重复审）</a:t>
            </a:r>
            <a:endParaRPr lang="en-US" sz="1200" noProof="1"/>
          </a:p>
        </p:txBody>
      </p:sp>
      <p:sp>
        <p:nvSpPr>
          <p:cNvPr id="7" name="a1"/>
          <p:cNvSpPr/>
          <p:nvPr>
            <p:extLst>
              <p:ext uri="{F5677B7D-0D2A-4D9B-9A5C-6D8D7D0E5A5D}">
                <pptd:line encoding="base64url">eyJ2aWV3Qm94IjpbMjQsMTBdLCJwb2ludHMiOiIwLDUgMjQsNSJ9</pptd:line>
              </p:ext>
            </p:extLst>
          </p:nvPr>
        </p:nvSpPr>
        <p:spPr>
          <a:xfrm>
            <a:off x="2743200" y="3098800"/>
            <a:ext cx="304800" cy="127000"/>
          </a:xfrm>
          <a:custGeom>
            <a:avLst/>
            <a:gdLst/>
            <a:ahLst/>
            <a:cxnLst/>
            <a:rect l="l" t="t" r="r" b="b"/>
            <a:pathLst>
              <a:path w="24" h="10">
                <a:moveTo>
                  <a:pt x="0" y="5"/>
                </a:moveTo>
                <a:lnTo>
                  <a:pt x="24" y="5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8" name="stage1"/>
          <p:cNvSpPr/>
          <p:nvPr/>
        </p:nvSpPr>
        <p:spPr>
          <a:xfrm>
            <a:off x="3124200" y="1651000"/>
            <a:ext cx="2413000" cy="86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9" name="stage1T"/>
          <p:cNvSpPr txBox="1"/>
          <p:nvPr/>
        </p:nvSpPr>
        <p:spPr>
          <a:xfrm>
            <a:off x="3276600" y="1778000"/>
            <a:ext cx="2108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review 自省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从新对话起草记忆修改提案</a:t>
            </a:r>
            <a:endParaRPr lang="en-US" sz="1200" noProof="1"/>
          </a:p>
        </p:txBody>
      </p:sp>
      <p:sp>
        <p:nvSpPr>
          <p:cNvPr id="10" name="stage2"/>
          <p:cNvSpPr/>
          <p:nvPr/>
        </p:nvSpPr>
        <p:spPr>
          <a:xfrm>
            <a:off x="3124200" y="2743200"/>
            <a:ext cx="2413000" cy="86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11" name="stage2T"/>
          <p:cNvSpPr txBox="1"/>
          <p:nvPr/>
        </p:nvSpPr>
        <p:spPr>
          <a:xfrm>
            <a:off x="3276600" y="2870200"/>
            <a:ext cx="2108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strategy 策略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重复 </a:t>
            </a:r>
            <a:r>
              <a:rPr lang="en-US" sz="1200" noProof="1" b="1">
                <a:solidFill>
                  <a:srgbClr val="DB0011"/>
                </a:solidFill>
                <a:latin typeface="MiSans"/>
                <a:ea typeface="MiSans"/>
              </a:rPr>
              <a:t>≥2 次</a:t>
            </a: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 的模式才固化</a:t>
            </a:r>
            <a:endParaRPr lang="en-US" sz="1200" noProof="1"/>
          </a:p>
        </p:txBody>
      </p:sp>
      <p:sp>
        <p:nvSpPr>
          <p:cNvPr id="12" name="stage3"/>
          <p:cNvSpPr/>
          <p:nvPr/>
        </p:nvSpPr>
        <p:spPr>
          <a:xfrm>
            <a:off x="3124200" y="3835400"/>
            <a:ext cx="2413000" cy="86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13" name="stage3T"/>
          <p:cNvSpPr txBox="1"/>
          <p:nvPr/>
        </p:nvSpPr>
        <p:spPr>
          <a:xfrm>
            <a:off x="3276600" y="3962400"/>
            <a:ext cx="2108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curator 治理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近重复合并（相似度 </a:t>
            </a:r>
            <a:r>
              <a:rPr lang="en-US" sz="1200" noProof="1" b="1">
                <a:solidFill>
                  <a:srgbClr val="DB0011"/>
                </a:solidFill>
                <a:latin typeface="MiSans"/>
                <a:ea typeface="MiSans"/>
              </a:rPr>
              <a:t>≥0.8</a:t>
            </a: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）</a:t>
            </a:r>
            <a:endParaRPr lang="en-US" sz="1200" noProof="1"/>
          </a:p>
        </p:txBody>
      </p:sp>
      <p:sp>
        <p:nvSpPr>
          <p:cNvPr id="14" name="a2"/>
          <p:cNvSpPr/>
          <p:nvPr>
            <p:extLst>
              <p:ext uri="{F5677B7D-0D2A-4D9B-9A5C-6D8D7D0E5A5D}">
                <pptd:line encoding="base64url">eyJ2aWV3Qm94IjpbMjQsMTBdLCJwb2ludHMiOiIwLDUgMjQsNSJ9</pptd:line>
              </p:ext>
            </p:extLst>
          </p:nvPr>
        </p:nvSpPr>
        <p:spPr>
          <a:xfrm>
            <a:off x="5613400" y="3098800"/>
            <a:ext cx="304800" cy="127000"/>
          </a:xfrm>
          <a:custGeom>
            <a:avLst/>
            <a:gdLst/>
            <a:ahLst/>
            <a:cxnLst/>
            <a:rect l="l" t="t" r="r" b="b"/>
            <a:pathLst>
              <a:path w="24" h="10">
                <a:moveTo>
                  <a:pt x="0" y="5"/>
                </a:moveTo>
                <a:lnTo>
                  <a:pt x="24" y="5"/>
                </a:lnTo>
              </a:path>
            </a:pathLst>
          </a:custGeom>
          <a:noFill/>
          <a:ln w="19050" cap="rnd">
            <a:solidFill>
              <a:srgbClr val="DB0011"/>
            </a:solidFill>
            <a:round/>
            <a:tailEnd type="arrow"/>
          </a:ln>
        </p:spPr>
      </p:sp>
      <p:sp>
        <p:nvSpPr>
          <p:cNvPr id="15" name="queue"/>
          <p:cNvSpPr/>
          <p:nvPr/>
        </p:nvSpPr>
        <p:spPr>
          <a:xfrm>
            <a:off x="5994400" y="2489200"/>
            <a:ext cx="2286000" cy="139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0011"/>
            </a:solidFill>
          </a:ln>
        </p:spPr>
      </p:sp>
      <p:sp>
        <p:nvSpPr>
          <p:cNvPr id="16" name="queueT"/>
          <p:cNvSpPr txBox="1"/>
          <p:nvPr/>
        </p:nvSpPr>
        <p:spPr>
          <a:xfrm>
            <a:off x="6146800" y="2641600"/>
            <a:ext cx="19812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review_queue.json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统一审批队列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DB0011"/>
                </a:solidFill>
                <a:latin typeface="MiSans"/>
                <a:ea typeface="MiSans"/>
              </a:rPr>
              <a:t>所有提案只暂存，不执行</a:t>
            </a:r>
            <a:endParaRPr lang="en-US" sz="1200" noProof="1"/>
          </a:p>
        </p:txBody>
      </p:sp>
      <p:sp>
        <p:nvSpPr>
          <p:cNvPr id="17" name="a3"/>
          <p:cNvSpPr/>
          <p:nvPr>
            <p:extLst>
              <p:ext uri="{F5677B7D-0D2A-4D9B-9A5C-6D8D7D0E5A5D}">
                <pptd:line encoding="base64url">eyJ2aWV3Qm94IjpbMjQsMTBdLCJwb2ludHMiOiIwLDUgMjQsNSJ9</pptd:line>
              </p:ext>
            </p:extLst>
          </p:nvPr>
        </p:nvSpPr>
        <p:spPr>
          <a:xfrm>
            <a:off x="8356600" y="3098800"/>
            <a:ext cx="304800" cy="127000"/>
          </a:xfrm>
          <a:custGeom>
            <a:avLst/>
            <a:gdLst/>
            <a:ahLst/>
            <a:cxnLst/>
            <a:rect l="l" t="t" r="r" b="b"/>
            <a:pathLst>
              <a:path w="24" h="10">
                <a:moveTo>
                  <a:pt x="0" y="5"/>
                </a:moveTo>
                <a:lnTo>
                  <a:pt x="24" y="5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18" name="approve"/>
          <p:cNvSpPr/>
          <p:nvPr/>
        </p:nvSpPr>
        <p:spPr>
          <a:xfrm>
            <a:off x="8737600" y="1905000"/>
            <a:ext cx="2692400" cy="1168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</p:sp>
      <p:sp>
        <p:nvSpPr>
          <p:cNvPr id="19" name="approveT"/>
          <p:cNvSpPr txBox="1"/>
          <p:nvPr/>
        </p:nvSpPr>
        <p:spPr>
          <a:xfrm>
            <a:off x="8890000" y="2032000"/>
            <a:ext cx="2387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用户审批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逐条批准 / 拒绝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归档先备份，误杀可恢复</a:t>
            </a:r>
            <a:endParaRPr lang="en-US" sz="1200" noProof="1"/>
          </a:p>
        </p:txBody>
      </p:sp>
      <p:sp>
        <p:nvSpPr>
          <p:cNvPr id="20" name="apply"/>
          <p:cNvSpPr/>
          <p:nvPr/>
        </p:nvSpPr>
        <p:spPr>
          <a:xfrm>
            <a:off x="8737600" y="3327400"/>
            <a:ext cx="26924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21" name="applyT"/>
          <p:cNvSpPr txBox="1"/>
          <p:nvPr/>
        </p:nvSpPr>
        <p:spPr>
          <a:xfrm>
            <a:off x="8890000" y="3454400"/>
            <a:ext cx="23876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批准后回放落盘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失败留在队列可重试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LLM 故障不推进水位</a:t>
            </a:r>
            <a:endParaRPr lang="en-US" sz="1200" noProof="1"/>
          </a:p>
        </p:txBody>
      </p:sp>
      <p:sp>
        <p:nvSpPr>
          <p:cNvPr id="22" name="conclusion"/>
          <p:cNvSpPr txBox="1"/>
          <p:nvPr/>
        </p:nvSpPr>
        <p:spPr>
          <a:xfrm>
            <a:off x="762000" y="53340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DB0011"/>
                </a:solidFill>
                <a:latin typeface="MiSans"/>
                <a:ea typeface="MiSans"/>
              </a:rPr>
              <a:t>设计立场：LLM 是提建议的实习生，不是有写权限的管理员</a:t>
            </a:r>
            <a:endParaRPr lang="en-US" sz="1600" noProof="1"/>
          </a:p>
        </p:txBody>
      </p:sp>
      <p:sp>
        <p:nvSpPr>
          <p:cNvPr id="23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24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云端进化层设计评审</a:t>
            </a:r>
            <a:endParaRPr lang="en-US" sz="1100" noProof="1"/>
          </a:p>
        </p:txBody>
      </p:sp>
      <p:sp>
        <p:nvSpPr>
          <p:cNvPr id="25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06 / 15</a:t>
            </a:r>
            <a:endParaRPr lang="en-US" sz="11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05 · 关键机制 1/4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333333"/>
                </a:solidFill>
                <a:latin typeface="MiSans"/>
                <a:ea typeface="MiSans"/>
              </a:rPr>
              <a:t>一条记忆的端到端生命周期</a:t>
            </a:r>
            <a:endParaRPr lang="en-US" sz="27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b1"/>
          <p:cNvSpPr/>
          <p:nvPr/>
        </p:nvSpPr>
        <p:spPr>
          <a:xfrm>
            <a:off x="508000" y="2413000"/>
            <a:ext cx="1778000" cy="812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</p:sp>
      <p:sp>
        <p:nvSpPr>
          <p:cNvPr id="6" name="b1T"/>
          <p:cNvSpPr txBox="1"/>
          <p:nvPr/>
        </p:nvSpPr>
        <p:spPr>
          <a:xfrm>
            <a:off x="508000" y="2413000"/>
            <a:ext cx="1778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个人记忆</a:t>
            </a:r>
            <a:endParaRPr lang="en-US" sz="1200" noProof="1"/>
          </a:p>
          <a:p>
            <a:pPr algn="ctr">
              <a:lnSpc>
                <a:spcPct val="135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MEMORY / USER</a:t>
            </a:r>
            <a:endParaRPr lang="en-US" sz="1200" noProof="1"/>
          </a:p>
        </p:txBody>
      </p:sp>
      <p:sp>
        <p:nvSpPr>
          <p:cNvPr id="7" name="ar1"/>
          <p:cNvSpPr/>
          <p:nvPr>
            <p:extLst>
              <p:ext uri="{F5677B7D-0D2A-4D9B-9A5C-6D8D7D0E5A5D}">
                <pptd:line encoding="base64url">eyJ2aWV3Qm94IjpbMzYsMTBdLCJwb2ludHMiOiIwLDUgMzYsNSJ9</pptd:line>
              </p:ext>
            </p:extLst>
          </p:nvPr>
        </p:nvSpPr>
        <p:spPr>
          <a:xfrm>
            <a:off x="2336800" y="2743200"/>
            <a:ext cx="457200" cy="127000"/>
          </a:xfrm>
          <a:custGeom>
            <a:avLst/>
            <a:gdLst/>
            <a:ahLst/>
            <a:cxnLst/>
            <a:rect l="l" t="t" r="r" b="b"/>
            <a:pathLst>
              <a:path w="36" h="10">
                <a:moveTo>
                  <a:pt x="0" y="5"/>
                </a:moveTo>
                <a:lnTo>
                  <a:pt x="36" y="5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8" name="ar1L"/>
          <p:cNvSpPr txBox="1"/>
          <p:nvPr/>
        </p:nvSpPr>
        <p:spPr>
          <a:xfrm>
            <a:off x="2032000" y="21336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77777"/>
                </a:solidFill>
                <a:latin typeface="MiSans"/>
                <a:ea typeface="MiSans"/>
              </a:rPr>
              <a:t>白名单+审批</a:t>
            </a:r>
            <a:endParaRPr lang="en-US" sz="900" noProof="1"/>
          </a:p>
        </p:txBody>
      </p:sp>
      <p:sp>
        <p:nvSpPr>
          <p:cNvPr id="9" name="b2"/>
          <p:cNvSpPr/>
          <p:nvPr/>
        </p:nvSpPr>
        <p:spPr>
          <a:xfrm>
            <a:off x="2844800" y="2413000"/>
            <a:ext cx="1778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10" name="b2T"/>
          <p:cNvSpPr txBox="1"/>
          <p:nvPr/>
        </p:nvSpPr>
        <p:spPr>
          <a:xfrm>
            <a:off x="2844800" y="2413000"/>
            <a:ext cx="1778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上行条目</a:t>
            </a:r>
            <a:endParaRPr lang="en-US" sz="1200" noProof="1"/>
          </a:p>
          <a:p>
            <a:pPr algn="ctr">
              <a:lnSpc>
                <a:spcPct val="135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结构化白名单</a:t>
            </a:r>
            <a:endParaRPr lang="en-US" sz="1200" noProof="1"/>
          </a:p>
        </p:txBody>
      </p:sp>
      <p:sp>
        <p:nvSpPr>
          <p:cNvPr id="11" name="ar2"/>
          <p:cNvSpPr/>
          <p:nvPr>
            <p:extLst>
              <p:ext uri="{F5677B7D-0D2A-4D9B-9A5C-6D8D7D0E5A5D}">
                <pptd:line encoding="base64url">eyJ2aWV3Qm94IjpbMzYsMTBdLCJwb2ludHMiOiIwLDUgMzYsNSJ9</pptd:line>
              </p:ext>
            </p:extLst>
          </p:nvPr>
        </p:nvSpPr>
        <p:spPr>
          <a:xfrm>
            <a:off x="4673600" y="2743200"/>
            <a:ext cx="457200" cy="127000"/>
          </a:xfrm>
          <a:custGeom>
            <a:avLst/>
            <a:gdLst/>
            <a:ahLst/>
            <a:cxnLst/>
            <a:rect l="l" t="t" r="r" b="b"/>
            <a:pathLst>
              <a:path w="36" h="10">
                <a:moveTo>
                  <a:pt x="0" y="5"/>
                </a:moveTo>
                <a:lnTo>
                  <a:pt x="36" y="5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12" name="ar2L"/>
          <p:cNvSpPr txBox="1"/>
          <p:nvPr/>
        </p:nvSpPr>
        <p:spPr>
          <a:xfrm>
            <a:off x="4470400" y="21336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77777"/>
                </a:solidFill>
                <a:latin typeface="MiSans"/>
                <a:ea typeface="MiSans"/>
              </a:rPr>
              <a:t>语义聚类</a:t>
            </a:r>
            <a:endParaRPr lang="en-US" sz="900" noProof="1"/>
          </a:p>
        </p:txBody>
      </p:sp>
      <p:sp>
        <p:nvSpPr>
          <p:cNvPr id="13" name="b3"/>
          <p:cNvSpPr/>
          <p:nvPr/>
        </p:nvSpPr>
        <p:spPr>
          <a:xfrm>
            <a:off x="5181600" y="2413000"/>
            <a:ext cx="1778000" cy="8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0011"/>
            </a:solidFill>
          </a:ln>
        </p:spPr>
      </p:sp>
      <p:sp>
        <p:nvSpPr>
          <p:cNvPr id="14" name="b3T"/>
          <p:cNvSpPr txBox="1"/>
          <p:nvPr/>
        </p:nvSpPr>
        <p:spPr>
          <a:xfrm>
            <a:off x="5181600" y="2413000"/>
            <a:ext cx="1778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200" noProof="1" b="1">
                <a:solidFill>
                  <a:srgbClr val="DB0011"/>
                </a:solidFill>
                <a:latin typeface="MiSans"/>
                <a:ea typeface="MiSans"/>
              </a:rPr>
              <a:t>隔离候选区</a:t>
            </a:r>
            <a:endParaRPr lang="en-US" sz="1200" noProof="1"/>
          </a:p>
          <a:p>
            <a:pPr algn="ctr">
              <a:lnSpc>
                <a:spcPct val="135000"/>
              </a:lnSpc>
            </a:pPr>
            <a:r>
              <a:rPr lang="en-US" sz="1200" noProof="1">
                <a:solidFill>
                  <a:srgbClr val="DB0011"/>
                </a:solidFill>
                <a:latin typeface="MiSans"/>
                <a:ea typeface="MiSans"/>
              </a:rPr>
              <a:t>不足 k 永不出区</a:t>
            </a:r>
            <a:endParaRPr lang="en-US" sz="1200" noProof="1"/>
          </a:p>
        </p:txBody>
      </p:sp>
      <p:sp>
        <p:nvSpPr>
          <p:cNvPr id="15" name="ar3"/>
          <p:cNvSpPr/>
          <p:nvPr>
            <p:extLst>
              <p:ext uri="{F5677B7D-0D2A-4D9B-9A5C-6D8D7D0E5A5D}">
                <pptd:line encoding="base64url">eyJ2aWV3Qm94IjpbMzYsMTBdLCJwb2ludHMiOiIwLDUgMzYsNSJ9</pptd:line>
              </p:ext>
            </p:extLst>
          </p:nvPr>
        </p:nvSpPr>
        <p:spPr>
          <a:xfrm>
            <a:off x="7010400" y="2743200"/>
            <a:ext cx="457200" cy="127000"/>
          </a:xfrm>
          <a:custGeom>
            <a:avLst/>
            <a:gdLst/>
            <a:ahLst/>
            <a:cxnLst/>
            <a:rect l="l" t="t" r="r" b="b"/>
            <a:pathLst>
              <a:path w="36" h="10">
                <a:moveTo>
                  <a:pt x="0" y="5"/>
                </a:moveTo>
                <a:lnTo>
                  <a:pt x="36" y="5"/>
                </a:lnTo>
              </a:path>
            </a:pathLst>
          </a:custGeom>
          <a:noFill/>
          <a:ln w="25400" cap="rnd">
            <a:solidFill>
              <a:srgbClr val="DB0011"/>
            </a:solidFill>
            <a:round/>
            <a:tailEnd type="arrow"/>
          </a:ln>
        </p:spPr>
      </p:sp>
      <p:sp>
        <p:nvSpPr>
          <p:cNvPr id="16" name="ar3L"/>
          <p:cNvSpPr txBox="1"/>
          <p:nvPr/>
        </p:nvSpPr>
        <p:spPr>
          <a:xfrm>
            <a:off x="6781800" y="2133600"/>
            <a:ext cx="1219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DB0011"/>
                </a:solidFill>
                <a:latin typeface="MiSans"/>
                <a:ea typeface="MiSans"/>
              </a:rPr>
              <a:t>独立来源 ≥ k</a:t>
            </a:r>
            <a:endParaRPr lang="en-US" sz="900" noProof="1"/>
          </a:p>
        </p:txBody>
      </p:sp>
      <p:sp>
        <p:nvSpPr>
          <p:cNvPr id="17" name="b4"/>
          <p:cNvSpPr/>
          <p:nvPr/>
        </p:nvSpPr>
        <p:spPr>
          <a:xfrm>
            <a:off x="7518400" y="2413000"/>
            <a:ext cx="1778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18" name="b4T"/>
          <p:cNvSpPr txBox="1"/>
          <p:nvPr/>
        </p:nvSpPr>
        <p:spPr>
          <a:xfrm>
            <a:off x="7518400" y="2413000"/>
            <a:ext cx="1778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共识候选</a:t>
            </a:r>
            <a:endParaRPr lang="en-US" sz="1200" noProof="1"/>
          </a:p>
          <a:p>
            <a:pPr algn="ctr">
              <a:lnSpc>
                <a:spcPct val="135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限定语交集校验</a:t>
            </a:r>
            <a:endParaRPr lang="en-US" sz="1200" noProof="1"/>
          </a:p>
        </p:txBody>
      </p:sp>
      <p:sp>
        <p:nvSpPr>
          <p:cNvPr id="19" name="ar4"/>
          <p:cNvSpPr/>
          <p:nvPr>
            <p:extLst>
              <p:ext uri="{F5677B7D-0D2A-4D9B-9A5C-6D8D7D0E5A5D}">
                <pptd:line encoding="base64url">eyJ2aWV3Qm94IjpbMzYsMTBdLCJwb2ludHMiOiIwLDUgMzYsNSJ9</pptd:line>
              </p:ext>
            </p:extLst>
          </p:nvPr>
        </p:nvSpPr>
        <p:spPr>
          <a:xfrm>
            <a:off x="9347200" y="2743200"/>
            <a:ext cx="457200" cy="127000"/>
          </a:xfrm>
          <a:custGeom>
            <a:avLst/>
            <a:gdLst/>
            <a:ahLst/>
            <a:cxnLst/>
            <a:rect l="l" t="t" r="r" b="b"/>
            <a:pathLst>
              <a:path w="36" h="10">
                <a:moveTo>
                  <a:pt x="0" y="5"/>
                </a:moveTo>
                <a:lnTo>
                  <a:pt x="36" y="5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20" name="ar4L"/>
          <p:cNvSpPr txBox="1"/>
          <p:nvPr/>
        </p:nvSpPr>
        <p:spPr>
          <a:xfrm>
            <a:off x="9220200" y="21336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77777"/>
                </a:solidFill>
                <a:latin typeface="MiSans"/>
                <a:ea typeface="MiSans"/>
              </a:rPr>
              <a:t>观察期 N 天</a:t>
            </a:r>
            <a:endParaRPr lang="en-US" sz="900" noProof="1"/>
          </a:p>
        </p:txBody>
      </p:sp>
      <p:sp>
        <p:nvSpPr>
          <p:cNvPr id="21" name="b5"/>
          <p:cNvSpPr/>
          <p:nvPr/>
        </p:nvSpPr>
        <p:spPr>
          <a:xfrm>
            <a:off x="9855200" y="2413000"/>
            <a:ext cx="1828800" cy="812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22" name="b5T"/>
          <p:cNvSpPr txBox="1"/>
          <p:nvPr/>
        </p:nvSpPr>
        <p:spPr>
          <a:xfrm>
            <a:off x="9855200" y="2413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共识激活</a:t>
            </a:r>
            <a:endParaRPr lang="en-US" sz="1200" noProof="1"/>
          </a:p>
          <a:p>
            <a:pPr algn="ctr">
              <a:lnSpc>
                <a:spcPct val="135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频道下发 / pull</a:t>
            </a:r>
            <a:endParaRPr lang="en-US" sz="1200" noProof="1"/>
          </a:p>
        </p:txBody>
      </p:sp>
      <p:sp>
        <p:nvSpPr>
          <p:cNvPr id="23" name="arDown"/>
          <p:cNvSpPr/>
          <p:nvPr>
            <p:extLst>
              <p:ext uri="{F5677B7D-0D2A-4D9B-9A5C-6D8D7D0E5A5D}">
                <pptd:line encoding="base64url">eyJ2aWV3Qm94IjpbMTAsNDBdLCJwb2ludHMiOiI1LDAgNSw0MCJ9</pptd:line>
              </p:ext>
            </p:extLst>
          </p:nvPr>
        </p:nvSpPr>
        <p:spPr>
          <a:xfrm>
            <a:off x="10706100" y="3302000"/>
            <a:ext cx="127000" cy="508000"/>
          </a:xfrm>
          <a:custGeom>
            <a:avLst/>
            <a:gdLst/>
            <a:ahLst/>
            <a:cxnLst/>
            <a:rect l="l" t="t" r="r" b="b"/>
            <a:pathLst>
              <a:path w="10" h="40">
                <a:moveTo>
                  <a:pt x="5" y="0"/>
                </a:moveTo>
                <a:lnTo>
                  <a:pt x="5" y="40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24" name="b6"/>
          <p:cNvSpPr/>
          <p:nvPr/>
        </p:nvSpPr>
        <p:spPr>
          <a:xfrm>
            <a:off x="9855200" y="3886200"/>
            <a:ext cx="1828800" cy="711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</p:sp>
      <p:sp>
        <p:nvSpPr>
          <p:cNvPr id="25" name="b6T"/>
          <p:cNvSpPr txBox="1"/>
          <p:nvPr/>
        </p:nvSpPr>
        <p:spPr>
          <a:xfrm>
            <a:off x="9855200" y="3886200"/>
            <a:ext cx="1828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100" noProof="1" b="1">
                <a:solidFill>
                  <a:srgbClr val="333333"/>
                </a:solidFill>
                <a:latin typeface="MiSans"/>
                <a:ea typeface="MiSans"/>
              </a:rPr>
              <a:t>降级 / 归档</a:t>
            </a:r>
            <a:endParaRPr lang="en-US" sz="1100" noProof="1"/>
          </a:p>
          <a:p>
            <a:pPr algn="ctr">
              <a:lnSpc>
                <a:spcPct val="135000"/>
              </a:lnSpc>
            </a:pPr>
            <a:r>
              <a:rPr lang="en-US" sz="1100" noProof="1">
                <a:solidFill>
                  <a:srgbClr val="333333"/>
                </a:solidFill>
                <a:latin typeface="MiSans"/>
                <a:ea typeface="MiSans"/>
              </a:rPr>
              <a:t>TTL 无新鲜观测</a:t>
            </a:r>
            <a:endParaRPr lang="en-US" sz="1100" noProof="1"/>
          </a:p>
        </p:txBody>
      </p:sp>
      <p:sp>
        <p:nvSpPr>
          <p:cNvPr id="26" name="forkLine"/>
          <p:cNvSpPr/>
          <p:nvPr>
            <p:extLst>
              <p:ext uri="{F5677B7D-0D2A-4D9B-9A5C-6D8D7D0E5A5D}">
                <pptd:line encoding="base64url">eyJ2aWV3Qm94IjpbMjEwLDY2XSwicG9pbnRzIjoiMjEwLDAgMTA1LDQwIDAsNjYiLCJjdXJ2ZSI6InNtb290aCJ9</pptd:line>
              </p:ext>
            </p:extLst>
          </p:nvPr>
        </p:nvSpPr>
        <p:spPr>
          <a:xfrm>
            <a:off x="7112000" y="3403600"/>
            <a:ext cx="2667000" cy="838200"/>
          </a:xfrm>
          <a:custGeom>
            <a:avLst/>
            <a:gdLst/>
            <a:ahLst/>
            <a:cxnLst/>
            <a:rect l="l" t="t" r="r" b="b"/>
            <a:pathLst>
              <a:path w="210" h="66">
                <a:moveTo>
                  <a:pt x="210" y="0"/>
                </a:moveTo>
                <a:quadBezTo>
                  <a:pt x="105" y="40"/>
                  <a:pt x="0" y="66"/>
                </a:quadBezTo>
              </a:path>
            </a:pathLst>
          </a:custGeom>
          <a:noFill/>
          <a:ln w="19050" cap="rnd">
            <a:solidFill>
              <a:srgbClr val="DB0011"/>
            </a:solidFill>
            <a:prstDash val="dash"/>
            <a:round/>
            <a:tailEnd type="arrow"/>
          </a:ln>
        </p:spPr>
      </p:sp>
      <p:sp>
        <p:nvSpPr>
          <p:cNvPr id="27" name="b7"/>
          <p:cNvSpPr/>
          <p:nvPr/>
        </p:nvSpPr>
        <p:spPr>
          <a:xfrm>
            <a:off x="5181600" y="4241800"/>
            <a:ext cx="2413000" cy="711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0011"/>
            </a:solidFill>
            <a:prstDash val="dash"/>
          </a:ln>
        </p:spPr>
      </p:sp>
      <p:sp>
        <p:nvSpPr>
          <p:cNvPr id="28" name="b7T"/>
          <p:cNvSpPr txBox="1"/>
          <p:nvPr/>
        </p:nvSpPr>
        <p:spPr>
          <a:xfrm>
            <a:off x="5181600" y="4241800"/>
            <a:ext cx="2413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100" noProof="1" b="1">
                <a:solidFill>
                  <a:srgbClr val="DB0011"/>
                </a:solidFill>
                <a:latin typeface="MiSans"/>
                <a:ea typeface="MiSans"/>
              </a:rPr>
              <a:t>反证 &gt; 30% → 分叉</a:t>
            </a:r>
            <a:endParaRPr lang="en-US" sz="1100" noProof="1"/>
          </a:p>
          <a:p>
            <a:pPr algn="ctr">
              <a:lnSpc>
                <a:spcPct val="135000"/>
              </a:lnSpc>
            </a:pPr>
            <a:r>
              <a:rPr lang="en-US" sz="1100" noProof="1">
                <a:solidFill>
                  <a:srgbClr val="DB0011"/>
                </a:solidFill>
                <a:latin typeface="MiSans"/>
                <a:ea typeface="MiSans"/>
              </a:rPr>
              <a:t>两条情境共识共存</a:t>
            </a:r>
            <a:endParaRPr lang="en-US" sz="1100" noProof="1"/>
          </a:p>
        </p:txBody>
      </p:sp>
      <p:sp>
        <p:nvSpPr>
          <p:cNvPr id="29" name="mech"/>
          <p:cNvSpPr txBox="1"/>
          <p:nvPr/>
        </p:nvSpPr>
        <p:spPr>
          <a:xfrm>
            <a:off x="762000" y="5384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333333"/>
                </a:solidFill>
                <a:latin typeface="MiSans"/>
                <a:ea typeface="MiSans"/>
              </a:rPr>
              <a:t>每次转移都是机械判据：计数、阈值、TTL —— 不靠 AI 自觉</a:t>
            </a:r>
            <a:endParaRPr lang="en-US" sz="1500" noProof="1"/>
          </a:p>
        </p:txBody>
      </p:sp>
      <p:sp>
        <p:nvSpPr>
          <p:cNvPr id="30" name="mech2"/>
          <p:cNvSpPr txBox="1"/>
          <p:nvPr/>
        </p:nvSpPr>
        <p:spPr>
          <a:xfrm>
            <a:off x="762000" y="57404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进化要有死亡：归档而非删除，误杀可恢复；gen 已达 2 的条目禁止再提炼，到期消亡</a:t>
            </a:r>
            <a:endParaRPr lang="en-US" sz="1200" noProof="1"/>
          </a:p>
        </p:txBody>
      </p:sp>
      <p:sp>
        <p:nvSpPr>
          <p:cNvPr id="31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32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云端进化层设计评审</a:t>
            </a:r>
            <a:endParaRPr lang="en-US" sz="1100" noProof="1"/>
          </a:p>
        </p:txBody>
      </p:sp>
      <p:sp>
        <p:nvSpPr>
          <p:cNvPr id="33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07 / 15</a:t>
            </a:r>
            <a:endParaRPr lang="en-US" sz="11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05 · 关键机制 2/4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333333"/>
                </a:solidFill>
                <a:latin typeface="MiSans"/>
                <a:ea typeface="MiSans"/>
              </a:rPr>
              <a:t>上行七步：白名单是主防线</a:t>
            </a:r>
            <a:endParaRPr lang="en-US" sz="27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p1"/>
          <p:cNvSpPr txBox="1"/>
          <p:nvPr/>
        </p:nvSpPr>
        <p:spPr>
          <a:xfrm>
            <a:off x="762000" y="1651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777777"/>
                </a:solidFill>
                <a:latin typeface="JetBrains Mono"/>
                <a:ea typeface="JetBrains Mono"/>
              </a:rPr>
              <a:t>01</a:t>
            </a:r>
            <a:endParaRPr lang="en-US" sz="1500" noProof="1"/>
          </a:p>
        </p:txBody>
      </p:sp>
      <p:sp>
        <p:nvSpPr>
          <p:cNvPr id="6" name="p1t"/>
          <p:cNvSpPr txBox="1"/>
          <p:nvPr/>
        </p:nvSpPr>
        <p:spPr>
          <a:xfrm>
            <a:off x="1320800" y="16510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333333"/>
                </a:solidFill>
                <a:latin typeface="MiSans"/>
                <a:ea typeface="MiSans"/>
              </a:rPr>
              <a:t>候选发现：扫描本地记忆中符合白名单类型的条目（纯本地）</a:t>
            </a:r>
            <a:endParaRPr lang="en-US" sz="1400" noProof="1"/>
          </a:p>
        </p:txBody>
      </p:sp>
      <p:sp>
        <p:nvSpPr>
          <p:cNvPr id="7" name="p2"/>
          <p:cNvSpPr txBox="1"/>
          <p:nvPr/>
        </p:nvSpPr>
        <p:spPr>
          <a:xfrm>
            <a:off x="762000" y="2235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DB0011"/>
                </a:solidFill>
                <a:latin typeface="JetBrains Mono"/>
                <a:ea typeface="JetBrains Mono"/>
              </a:rPr>
              <a:t>02</a:t>
            </a:r>
            <a:endParaRPr lang="en-US" sz="1500" noProof="1"/>
          </a:p>
        </p:txBody>
      </p:sp>
      <p:sp>
        <p:nvSpPr>
          <p:cNvPr id="8" name="p2t"/>
          <p:cNvSpPr txBox="1"/>
          <p:nvPr/>
        </p:nvSpPr>
        <p:spPr>
          <a:xfrm>
            <a:off x="1320800" y="22352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333333"/>
                </a:solidFill>
                <a:latin typeface="MiSans"/>
                <a:ea typeface="MiSans"/>
              </a:rPr>
              <a:t>结构化校验：填不进 schema 的记忆，物理上不可分享</a:t>
            </a:r>
            <a:r>
              <a:rPr lang="en-US" sz="1400" noProof="1">
                <a:solidFill>
                  <a:srgbClr val="DB0011"/>
                </a:solidFill>
                <a:latin typeface="MiSans"/>
                <a:ea typeface="MiSans"/>
              </a:rPr>
              <a:t>　← 主防线</a:t>
            </a:r>
            <a:endParaRPr lang="en-US" sz="1400" noProof="1"/>
          </a:p>
        </p:txBody>
      </p:sp>
      <p:sp>
        <p:nvSpPr>
          <p:cNvPr id="9" name="p3"/>
          <p:cNvSpPr txBox="1"/>
          <p:nvPr/>
        </p:nvSpPr>
        <p:spPr>
          <a:xfrm>
            <a:off x="762000" y="28194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777777"/>
                </a:solidFill>
                <a:latin typeface="JetBrains Mono"/>
                <a:ea typeface="JetBrains Mono"/>
              </a:rPr>
              <a:t>03</a:t>
            </a:r>
            <a:endParaRPr lang="en-US" sz="1500" noProof="1"/>
          </a:p>
        </p:txBody>
      </p:sp>
      <p:sp>
        <p:nvSpPr>
          <p:cNvPr id="10" name="p3t"/>
          <p:cNvSpPr txBox="1"/>
          <p:nvPr/>
        </p:nvSpPr>
        <p:spPr>
          <a:xfrm>
            <a:off x="1320800" y="28194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333333"/>
                </a:solidFill>
                <a:latin typeface="MiSans"/>
                <a:ea typeface="MiSans"/>
              </a:rPr>
              <a:t>渗出扫描：过 threat_patterns strict 模式库（复用本地）</a:t>
            </a:r>
            <a:endParaRPr lang="en-US" sz="1400" noProof="1"/>
          </a:p>
        </p:txBody>
      </p:sp>
      <p:sp>
        <p:nvSpPr>
          <p:cNvPr id="11" name="p4"/>
          <p:cNvSpPr txBox="1"/>
          <p:nvPr/>
        </p:nvSpPr>
        <p:spPr>
          <a:xfrm>
            <a:off x="762000" y="34036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777777"/>
                </a:solidFill>
                <a:latin typeface="JetBrains Mono"/>
                <a:ea typeface="JetBrains Mono"/>
              </a:rPr>
              <a:t>04</a:t>
            </a:r>
            <a:endParaRPr lang="en-US" sz="1500" noProof="1"/>
          </a:p>
        </p:txBody>
      </p:sp>
      <p:sp>
        <p:nvSpPr>
          <p:cNvPr id="12" name="p4t"/>
          <p:cNvSpPr txBox="1"/>
          <p:nvPr/>
        </p:nvSpPr>
        <p:spPr>
          <a:xfrm>
            <a:off x="1320800" y="340360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333333"/>
                </a:solidFill>
                <a:latin typeface="MiSans"/>
                <a:ea typeface="MiSans"/>
              </a:rPr>
              <a:t>聚合风险检查：防马赛克效应——单条无害、组合可识别</a:t>
            </a:r>
            <a:endParaRPr lang="en-US" sz="1400" noProof="1"/>
          </a:p>
        </p:txBody>
      </p:sp>
      <p:sp>
        <p:nvSpPr>
          <p:cNvPr id="13" name="p5"/>
          <p:cNvSpPr txBox="1"/>
          <p:nvPr/>
        </p:nvSpPr>
        <p:spPr>
          <a:xfrm>
            <a:off x="762000" y="39878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DB0011"/>
                </a:solidFill>
                <a:latin typeface="JetBrains Mono"/>
                <a:ea typeface="JetBrains Mono"/>
              </a:rPr>
              <a:t>05</a:t>
            </a:r>
            <a:endParaRPr lang="en-US" sz="1500" noProof="1"/>
          </a:p>
        </p:txBody>
      </p:sp>
      <p:sp>
        <p:nvSpPr>
          <p:cNvPr id="14" name="p5t"/>
          <p:cNvSpPr txBox="1"/>
          <p:nvPr/>
        </p:nvSpPr>
        <p:spPr>
          <a:xfrm>
            <a:off x="1320800" y="39878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333333"/>
                </a:solidFill>
                <a:latin typeface="MiSans"/>
                <a:ea typeface="MiSans"/>
              </a:rPr>
              <a:t>用户审批：原文明文展示，一字不差</a:t>
            </a:r>
            <a:r>
              <a:rPr lang="en-US" sz="1400" noProof="1">
                <a:solidFill>
                  <a:srgbClr val="DB0011"/>
                </a:solidFill>
                <a:latin typeface="MiSans"/>
                <a:ea typeface="MiSans"/>
              </a:rPr>
              <a:t>　← 最终否决权</a:t>
            </a:r>
            <a:endParaRPr lang="en-US" sz="1400" noProof="1"/>
          </a:p>
        </p:txBody>
      </p:sp>
      <p:sp>
        <p:nvSpPr>
          <p:cNvPr id="15" name="p6"/>
          <p:cNvSpPr txBox="1"/>
          <p:nvPr/>
        </p:nvSpPr>
        <p:spPr>
          <a:xfrm>
            <a:off x="762000" y="4572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777777"/>
                </a:solidFill>
                <a:latin typeface="JetBrains Mono"/>
                <a:ea typeface="JetBrains Mono"/>
              </a:rPr>
              <a:t>06</a:t>
            </a:r>
            <a:endParaRPr lang="en-US" sz="1500" noProof="1"/>
          </a:p>
        </p:txBody>
      </p:sp>
      <p:sp>
        <p:nvSpPr>
          <p:cNvPr id="16" name="p6t"/>
          <p:cNvSpPr txBox="1"/>
          <p:nvPr/>
        </p:nvSpPr>
        <p:spPr>
          <a:xfrm>
            <a:off x="1320800" y="45720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333333"/>
                </a:solidFill>
                <a:latin typeface="MiSans"/>
                <a:ea typeface="MiSans"/>
              </a:rPr>
              <a:t>规范化 + 签名：轮换标识 + 信誉匿名凭证，跨会话不可链接</a:t>
            </a:r>
            <a:endParaRPr lang="en-US" sz="1400" noProof="1"/>
          </a:p>
        </p:txBody>
      </p:sp>
      <p:sp>
        <p:nvSpPr>
          <p:cNvPr id="17" name="p7"/>
          <p:cNvSpPr txBox="1"/>
          <p:nvPr/>
        </p:nvSpPr>
        <p:spPr>
          <a:xfrm>
            <a:off x="762000" y="5156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777777"/>
                </a:solidFill>
                <a:latin typeface="JetBrains Mono"/>
                <a:ea typeface="JetBrains Mono"/>
              </a:rPr>
              <a:t>07</a:t>
            </a:r>
            <a:endParaRPr lang="en-US" sz="1500" noProof="1"/>
          </a:p>
        </p:txBody>
      </p:sp>
      <p:sp>
        <p:nvSpPr>
          <p:cNvPr id="18" name="p7t"/>
          <p:cNvSpPr txBox="1"/>
          <p:nvPr/>
        </p:nvSpPr>
        <p:spPr>
          <a:xfrm>
            <a:off x="1320800" y="51562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333333"/>
                </a:solidFill>
                <a:latin typeface="MiSans"/>
                <a:ea typeface="MiSans"/>
              </a:rPr>
              <a:t>云端入隔离区：断网时 outbox 本地暂存，恢复后补发</a:t>
            </a:r>
            <a:endParaRPr lang="en-US" sz="1400" noProof="1"/>
          </a:p>
        </p:txBody>
      </p:sp>
      <p:sp>
        <p:nvSpPr>
          <p:cNvPr id="19" name="divV"/>
          <p:cNvSpPr/>
          <p:nvPr/>
        </p:nvSpPr>
        <p:spPr>
          <a:xfrm>
            <a:off x="7874000" y="1651000"/>
            <a:ext cx="12700" cy="39370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20" name="stance"/>
          <p:cNvSpPr txBox="1"/>
          <p:nvPr/>
        </p:nvSpPr>
        <p:spPr>
          <a:xfrm>
            <a:off x="8331200" y="1701800"/>
            <a:ext cx="31750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设计立场</a:t>
            </a:r>
            <a:endParaRPr lang="en-US" sz="130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判定逻辑翻转：从「识别敏感」到</a:t>
            </a:r>
            <a:r>
              <a:rPr lang="en-US" sz="1300" noProof="1" b="1">
                <a:solidFill>
                  <a:srgbClr val="DB0011"/>
                </a:solidFill>
                <a:latin typeface="MiSans"/>
                <a:ea typeface="MiSans"/>
              </a:rPr>
              <a:t>「白名单放行」</a:t>
            </a:r>
            <a:endParaRPr lang="en-US" sz="130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黑名单在组合攻击面上原理性失败</a:t>
            </a:r>
            <a:endParaRPr lang="en-US" sz="130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condition 只允许枚举值：「我们公司的 X 项目」根本写不进去</a:t>
            </a:r>
            <a:endParaRPr lang="en-US" sz="130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聚合检查是启发式：抬高泄漏门槛，不承诺完备——诚实记账</a:t>
            </a:r>
            <a:endParaRPr lang="en-US" sz="1300" noProof="1"/>
          </a:p>
        </p:txBody>
      </p:sp>
      <p:sp>
        <p:nvSpPr>
          <p:cNvPr id="21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22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云端进化层设计评审</a:t>
            </a:r>
            <a:endParaRPr lang="en-US" sz="1100" noProof="1"/>
          </a:p>
        </p:txBody>
      </p:sp>
      <p:sp>
        <p:nvSpPr>
          <p:cNvPr id="23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08 / 15</a:t>
            </a:r>
            <a:endParaRPr lang="en-US" sz="11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05 · 关键机制 3/4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333333"/>
                </a:solidFill>
                <a:latin typeface="MiSans"/>
                <a:ea typeface="MiSans"/>
              </a:rPr>
              <a:t>云端聚合的三道硬约束</a:t>
            </a:r>
            <a:endParaRPr lang="en-US" sz="27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k1"/>
          <p:cNvSpPr txBox="1"/>
          <p:nvPr/>
        </p:nvSpPr>
        <p:spPr>
          <a:xfrm>
            <a:off x="762000" y="17526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DB0011"/>
                </a:solidFill>
                <a:latin typeface="MiSans"/>
                <a:ea typeface="MiSans"/>
              </a:rPr>
              <a:t>k-匿名门槛</a:t>
            </a:r>
            <a:endParaRPr lang="en-US" sz="2600" noProof="1"/>
          </a:p>
        </p:txBody>
      </p:sp>
      <p:sp>
        <p:nvSpPr>
          <p:cNvPr id="6" name="k1d"/>
          <p:cNvSpPr txBox="1"/>
          <p:nvPr/>
        </p:nvSpPr>
        <p:spPr>
          <a:xfrm>
            <a:off x="3556000" y="1752600"/>
            <a:ext cx="7874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独立信誉身份 </a:t>
            </a:r>
            <a:r>
              <a:rPr lang="en-US" sz="1300" noProof="1" b="1">
                <a:solidFill>
                  <a:srgbClr val="DB0011"/>
                </a:solidFill>
                <a:latin typeface="MiSans"/>
                <a:ea typeface="MiSans"/>
              </a:rPr>
              <a:t>≥ k（默认 3）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才允许晋升共识，不足 k 的记忆永远锁在隔离区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防什么：马赛克效应 + 单人伪造「群体验证」——独有记忆物理上不出区</a:t>
            </a:r>
            <a:endParaRPr lang="en-US" sz="1300" noProof="1"/>
          </a:p>
        </p:txBody>
      </p:sp>
      <p:sp>
        <p:nvSpPr>
          <p:cNvPr id="7" name="r1"/>
          <p:cNvSpPr/>
          <p:nvPr/>
        </p:nvSpPr>
        <p:spPr>
          <a:xfrm>
            <a:off x="762000" y="25400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8" name="k2"/>
          <p:cNvSpPr txBox="1"/>
          <p:nvPr/>
        </p:nvSpPr>
        <p:spPr>
          <a:xfrm>
            <a:off x="762000" y="28194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DB0011"/>
                </a:solidFill>
                <a:latin typeface="JetBrains Mono"/>
                <a:ea typeface="JetBrains Mono"/>
              </a:rPr>
              <a:t>gen ≤ 2</a:t>
            </a:r>
            <a:endParaRPr lang="en-US" sz="2600" noProof="1"/>
          </a:p>
        </p:txBody>
      </p:sp>
      <p:sp>
        <p:nvSpPr>
          <p:cNvPr id="9" name="k2d"/>
          <p:cNvSpPr txBox="1"/>
          <p:nvPr/>
        </p:nvSpPr>
        <p:spPr>
          <a:xfrm>
            <a:off x="3556000" y="2819400"/>
            <a:ext cx="7874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提炼代数硬上限：</a:t>
            </a: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禁止对摘要再做摘要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，超限条目到期消亡而非继续改写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防什么：群体版 context collapse——限定条件和证据强度逐代丢失，还带上「团队共识」的权威光环</a:t>
            </a:r>
            <a:endParaRPr lang="en-US" sz="1300" noProof="1"/>
          </a:p>
        </p:txBody>
      </p:sp>
      <p:sp>
        <p:nvSpPr>
          <p:cNvPr id="10" name="r2"/>
          <p:cNvSpPr/>
          <p:nvPr/>
        </p:nvSpPr>
        <p:spPr>
          <a:xfrm>
            <a:off x="762000" y="36068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1" name="k3"/>
          <p:cNvSpPr txBox="1"/>
          <p:nvPr/>
        </p:nvSpPr>
        <p:spPr>
          <a:xfrm>
            <a:off x="762000" y="38862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DB0011"/>
                </a:solidFill>
                <a:latin typeface="MiSans"/>
                <a:ea typeface="MiSans"/>
              </a:rPr>
              <a:t>限定语校验</a:t>
            </a:r>
            <a:endParaRPr lang="en-US" sz="2600" noProof="1"/>
          </a:p>
        </p:txBody>
      </p:sp>
      <p:sp>
        <p:nvSpPr>
          <p:cNvPr id="12" name="k3d"/>
          <p:cNvSpPr txBox="1"/>
          <p:nvPr/>
        </p:nvSpPr>
        <p:spPr>
          <a:xfrm>
            <a:off x="3556000" y="3886200"/>
            <a:ext cx="7874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产物 condition 必须是所有原料的</a:t>
            </a: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交集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；丢任一条件约束，判提炼失败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防什么：坍缩的第一征兆是限定语丢失——机械集合校验，不依赖 LLM 自觉</a:t>
            </a:r>
            <a:endParaRPr lang="en-US" sz="1300" noProof="1"/>
          </a:p>
        </p:txBody>
      </p:sp>
      <p:sp>
        <p:nvSpPr>
          <p:cNvPr id="13" name="r3"/>
          <p:cNvSpPr/>
          <p:nvPr/>
        </p:nvSpPr>
        <p:spPr>
          <a:xfrm>
            <a:off x="762000" y="46736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4" name="extra1"/>
          <p:cNvSpPr txBox="1"/>
          <p:nvPr/>
        </p:nvSpPr>
        <p:spPr>
          <a:xfrm>
            <a:off x="762000" y="4978400"/>
            <a:ext cx="5207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失败蒸馏独立管道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坑点 / guardrail 型走独立聚类池，k 可降到 2，</a:t>
            </a:r>
            <a:r>
              <a:rPr lang="en-US" sz="1200" noProof="1" b="1">
                <a:solidFill>
                  <a:srgbClr val="DB0011"/>
                </a:solidFill>
                <a:latin typeface="MiSans"/>
                <a:ea typeface="MiSans"/>
              </a:rPr>
              <a:t>下发加权</a:t>
            </a: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：成功路径大同小异，坑各有各的坑</a:t>
            </a:r>
            <a:endParaRPr lang="en-US" sz="1200" noProof="1"/>
          </a:p>
        </p:txBody>
      </p:sp>
      <p:sp>
        <p:nvSpPr>
          <p:cNvPr id="15" name="extra2"/>
          <p:cNvSpPr txBox="1"/>
          <p:nvPr/>
        </p:nvSpPr>
        <p:spPr>
          <a:xfrm>
            <a:off x="6350000" y="49784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Canary 蜜罐锚点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已知标准答案的记忆被扭曲 → 告警并冻结相关频道晋升：</a:t>
            </a:r>
            <a:r>
              <a:rPr lang="en-US" sz="1200" noProof="1" b="1">
                <a:solidFill>
                  <a:srgbClr val="DB0011"/>
                </a:solidFill>
                <a:latin typeface="MiSans"/>
                <a:ea typeface="MiSans"/>
              </a:rPr>
              <a:t>渗透的烟雾报警器</a:t>
            </a:r>
            <a:endParaRPr lang="en-US" sz="1200" noProof="1"/>
          </a:p>
        </p:txBody>
      </p:sp>
      <p:sp>
        <p:nvSpPr>
          <p:cNvPr id="16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7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云端进化层设计评审</a:t>
            </a:r>
            <a:endParaRPr lang="en-US" sz="1100" noProof="1"/>
          </a:p>
        </p:txBody>
      </p:sp>
      <p:sp>
        <p:nvSpPr>
          <p:cNvPr id="18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09 / 15</a:t>
            </a:r>
            <a:endParaRPr lang="en-US" sz="11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05 · 关键机制 4/4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333333"/>
                </a:solidFill>
                <a:latin typeface="MiSans"/>
                <a:ea typeface="MiSans"/>
              </a:rPr>
              <a:t>下行五道工序：共识按不可信输入处理</a:t>
            </a:r>
            <a:endParaRPr lang="en-US" sz="27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g1"/>
          <p:cNvSpPr/>
          <p:nvPr/>
        </p:nvSpPr>
        <p:spPr>
          <a:xfrm>
            <a:off x="762000" y="1778000"/>
            <a:ext cx="1905000" cy="109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6" name="g1T"/>
          <p:cNvSpPr txBox="1"/>
          <p:nvPr/>
        </p:nvSpPr>
        <p:spPr>
          <a:xfrm>
            <a:off x="889000" y="1905000"/>
            <a:ext cx="1651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1 签名校验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验签 + 版本单调检查，防重放旧版</a:t>
            </a:r>
            <a:endParaRPr lang="en-US" sz="1200" noProof="1"/>
          </a:p>
        </p:txBody>
      </p:sp>
      <p:sp>
        <p:nvSpPr>
          <p:cNvPr id="7" name="ga1"/>
          <p:cNvSpPr/>
          <p:nvPr>
            <p:extLst>
              <p:ext uri="{F5677B7D-0D2A-4D9B-9A5C-6D8D7D0E5A5D}">
                <pptd:line encoding="base64url">eyJ2aWV3Qm94IjpbMjIsMTBdLCJwb2ludHMiOiIwLDUgMjIsNSJ9</pptd:line>
              </p:ext>
            </p:extLst>
          </p:nvPr>
        </p:nvSpPr>
        <p:spPr>
          <a:xfrm>
            <a:off x="2717800" y="2260600"/>
            <a:ext cx="279400" cy="127000"/>
          </a:xfrm>
          <a:custGeom>
            <a:avLst/>
            <a:gdLst/>
            <a:ahLst/>
            <a:cxnLst/>
            <a:rect l="l" t="t" r="r" b="b"/>
            <a:pathLst>
              <a:path w="22" h="10">
                <a:moveTo>
                  <a:pt x="0" y="5"/>
                </a:moveTo>
                <a:lnTo>
                  <a:pt x="22" y="5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8" name="g2"/>
          <p:cNvSpPr/>
          <p:nvPr/>
        </p:nvSpPr>
        <p:spPr>
          <a:xfrm>
            <a:off x="3048000" y="1778000"/>
            <a:ext cx="1905000" cy="109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9" name="g2T"/>
          <p:cNvSpPr txBox="1"/>
          <p:nvPr/>
        </p:nvSpPr>
        <p:spPr>
          <a:xfrm>
            <a:off x="3175000" y="1905000"/>
            <a:ext cx="1651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2 威胁扫描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strict 模式库，复用本地防线</a:t>
            </a:r>
            <a:endParaRPr lang="en-US" sz="1200" noProof="1"/>
          </a:p>
        </p:txBody>
      </p:sp>
      <p:sp>
        <p:nvSpPr>
          <p:cNvPr id="10" name="ga2"/>
          <p:cNvSpPr/>
          <p:nvPr>
            <p:extLst>
              <p:ext uri="{F5677B7D-0D2A-4D9B-9A5C-6D8D7D0E5A5D}">
                <pptd:line encoding="base64url">eyJ2aWV3Qm94IjpbMjIsMTBdLCJwb2ludHMiOiIwLDUgMjIsNSJ9</pptd:line>
              </p:ext>
            </p:extLst>
          </p:nvPr>
        </p:nvSpPr>
        <p:spPr>
          <a:xfrm>
            <a:off x="5003800" y="2260600"/>
            <a:ext cx="279400" cy="127000"/>
          </a:xfrm>
          <a:custGeom>
            <a:avLst/>
            <a:gdLst/>
            <a:ahLst/>
            <a:cxnLst/>
            <a:rect l="l" t="t" r="r" b="b"/>
            <a:pathLst>
              <a:path w="22" h="10">
                <a:moveTo>
                  <a:pt x="0" y="5"/>
                </a:moveTo>
                <a:lnTo>
                  <a:pt x="22" y="5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11" name="g3"/>
          <p:cNvSpPr/>
          <p:nvPr/>
        </p:nvSpPr>
        <p:spPr>
          <a:xfrm>
            <a:off x="5334000" y="1778000"/>
            <a:ext cx="1905000" cy="109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12" name="g3T"/>
          <p:cNvSpPr txBox="1"/>
          <p:nvPr/>
        </p:nvSpPr>
        <p:spPr>
          <a:xfrm>
            <a:off x="5461000" y="1905000"/>
            <a:ext cx="1651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3 注入检测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五层：覆盖 / 操纵 / 持久化 / 混淆 / 渗出</a:t>
            </a:r>
            <a:endParaRPr lang="en-US" sz="1200" noProof="1"/>
          </a:p>
        </p:txBody>
      </p:sp>
      <p:sp>
        <p:nvSpPr>
          <p:cNvPr id="13" name="ga3"/>
          <p:cNvSpPr/>
          <p:nvPr>
            <p:extLst>
              <p:ext uri="{F5677B7D-0D2A-4D9B-9A5C-6D8D7D0E5A5D}">
                <pptd:line encoding="base64url">eyJ2aWV3Qm94IjpbMjIsMTBdLCJwb2ludHMiOiIwLDUgMjIsNSJ9</pptd:line>
              </p:ext>
            </p:extLst>
          </p:nvPr>
        </p:nvSpPr>
        <p:spPr>
          <a:xfrm>
            <a:off x="7289800" y="2260600"/>
            <a:ext cx="279400" cy="127000"/>
          </a:xfrm>
          <a:custGeom>
            <a:avLst/>
            <a:gdLst/>
            <a:ahLst/>
            <a:cxnLst/>
            <a:rect l="l" t="t" r="r" b="b"/>
            <a:pathLst>
              <a:path w="22" h="10">
                <a:moveTo>
                  <a:pt x="0" y="5"/>
                </a:moveTo>
                <a:lnTo>
                  <a:pt x="22" y="5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14" name="g4"/>
          <p:cNvSpPr/>
          <p:nvPr/>
        </p:nvSpPr>
        <p:spPr>
          <a:xfrm>
            <a:off x="7620000" y="1778000"/>
            <a:ext cx="1905000" cy="1092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0011"/>
            </a:solidFill>
          </a:ln>
        </p:spPr>
      </p:sp>
      <p:sp>
        <p:nvSpPr>
          <p:cNvPr id="15" name="g4T"/>
          <p:cNvSpPr txBox="1"/>
          <p:nvPr/>
        </p:nvSpPr>
        <p:spPr>
          <a:xfrm>
            <a:off x="7747000" y="1905000"/>
            <a:ext cx="1651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DB0011"/>
                </a:solidFill>
                <a:latin typeface="MiSans"/>
                <a:ea typeface="MiSans"/>
              </a:rPr>
              <a:t>4 独立命名空间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DB0011"/>
                </a:solidFill>
                <a:latin typeface="MiSans"/>
                <a:ea typeface="MiSans"/>
              </a:rPr>
              <a:t>TEAM.md 永不覆盖个人记忆</a:t>
            </a:r>
            <a:endParaRPr lang="en-US" sz="1200" noProof="1"/>
          </a:p>
        </p:txBody>
      </p:sp>
      <p:sp>
        <p:nvSpPr>
          <p:cNvPr id="16" name="ga4"/>
          <p:cNvSpPr/>
          <p:nvPr>
            <p:extLst>
              <p:ext uri="{F5677B7D-0D2A-4D9B-9A5C-6D8D7D0E5A5D}">
                <pptd:line encoding="base64url">eyJ2aWV3Qm94IjpbMjIsMTBdLCJwb2ludHMiOiIwLDUgMjIsNSJ9</pptd:line>
              </p:ext>
            </p:extLst>
          </p:nvPr>
        </p:nvSpPr>
        <p:spPr>
          <a:xfrm>
            <a:off x="9575800" y="2260600"/>
            <a:ext cx="279400" cy="127000"/>
          </a:xfrm>
          <a:custGeom>
            <a:avLst/>
            <a:gdLst/>
            <a:ahLst/>
            <a:cxnLst/>
            <a:rect l="l" t="t" r="r" b="b"/>
            <a:pathLst>
              <a:path w="22" h="10">
                <a:moveTo>
                  <a:pt x="0" y="5"/>
                </a:moveTo>
                <a:lnTo>
                  <a:pt x="22" y="5"/>
                </a:lnTo>
              </a:path>
            </a:pathLst>
          </a:custGeom>
          <a:noFill/>
          <a:ln w="19050" cap="rnd">
            <a:solidFill>
              <a:srgbClr val="777777"/>
            </a:solidFill>
            <a:round/>
            <a:tailEnd type="arrow"/>
          </a:ln>
        </p:spPr>
      </p:sp>
      <p:sp>
        <p:nvSpPr>
          <p:cNvPr id="17" name="g5"/>
          <p:cNvSpPr/>
          <p:nvPr/>
        </p:nvSpPr>
        <p:spPr>
          <a:xfrm>
            <a:off x="9906000" y="1778000"/>
            <a:ext cx="1651000" cy="1092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</p:sp>
      <p:sp>
        <p:nvSpPr>
          <p:cNvPr id="18" name="g5T"/>
          <p:cNvSpPr txBox="1"/>
          <p:nvPr/>
        </p:nvSpPr>
        <p:spPr>
          <a:xfrm>
            <a:off x="10033000" y="1905000"/>
            <a:ext cx="1397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5 审批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进 review_queue，始终可回滚</a:t>
            </a:r>
            <a:endParaRPr lang="en-US" sz="1200" noProof="1"/>
          </a:p>
        </p:txBody>
      </p:sp>
      <p:sp>
        <p:nvSpPr>
          <p:cNvPr id="19" name="inject"/>
          <p:cNvSpPr txBox="1"/>
          <p:nvPr/>
        </p:nvSpPr>
        <p:spPr>
          <a:xfrm>
            <a:off x="762000" y="3327400"/>
            <a:ext cx="1066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注入上下文的形态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：&lt;team-consensus&gt; 标签包裹，</a:t>
            </a:r>
            <a:r>
              <a:rPr lang="en-US" sz="1300" noProof="1" b="1">
                <a:solidFill>
                  <a:srgbClr val="DB0011"/>
                </a:solidFill>
                <a:latin typeface="MiSans"/>
                <a:ea typeface="MiSans"/>
              </a:rPr>
              <a:t>置信度与独立来源数随行呈现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——权威光环的解药是透明，不是谨慎措辞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777777"/>
                </a:solidFill>
                <a:latin typeface="MiSans"/>
                <a:ea typeface="MiSans"/>
              </a:rPr>
              <a:t>即使恶意共识穿过检测，它在上下文里也是「被引用的外部数据」，而非与个人记忆平权的「自己的记忆」</a:t>
            </a:r>
            <a:endParaRPr lang="en-US" sz="1300" noProof="1"/>
          </a:p>
        </p:txBody>
      </p:sp>
      <p:sp>
        <p:nvSpPr>
          <p:cNvPr id="20" name="r1"/>
          <p:cNvSpPr/>
          <p:nvPr/>
        </p:nvSpPr>
        <p:spPr>
          <a:xfrm>
            <a:off x="762000" y="42672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21" name="audit"/>
          <p:cNvSpPr txBox="1"/>
          <p:nvPr/>
        </p:nvSpPr>
        <p:spPr>
          <a:xfrm>
            <a:off x="762000" y="4546600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上下文账本（context ledger）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每次会话记录进入上下文的 consensus_id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行为异常时：哪条共识影响了哪些会话，</a:t>
            </a:r>
            <a:r>
              <a:rPr lang="en-US" sz="1300" noProof="1" b="1">
                <a:solidFill>
                  <a:srgbClr val="DB0011"/>
                </a:solidFill>
                <a:latin typeface="MiSans"/>
                <a:ea typeface="MiSans"/>
              </a:rPr>
              <a:t>一行可查</a:t>
            </a:r>
            <a:endParaRPr lang="en-US" sz="1300" noProof="1"/>
          </a:p>
        </p:txBody>
      </p:sp>
      <p:sp>
        <p:nvSpPr>
          <p:cNvPr id="22" name="rollback"/>
          <p:cNvSpPr txBox="1"/>
          <p:nvPr/>
        </p:nvSpPr>
        <p:spPr>
          <a:xfrm>
            <a:off x="6350000" y="4546600"/>
            <a:ext cx="5080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签名版本化 + 一键回滚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本地保留最近 10 版共识历史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发现毒化整体回退，回滚事件元数据上行供云端归因</a:t>
            </a:r>
            <a:endParaRPr lang="en-US" sz="1300" noProof="1"/>
          </a:p>
        </p:txBody>
      </p:sp>
      <p:sp>
        <p:nvSpPr>
          <p:cNvPr id="23" name="conclusion"/>
          <p:cNvSpPr txBox="1"/>
          <p:nvPr/>
        </p:nvSpPr>
        <p:spPr>
          <a:xfrm>
            <a:off x="762000" y="58674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DB0011"/>
                </a:solidFill>
                <a:latin typeface="MiSans"/>
                <a:ea typeface="MiSans"/>
              </a:rPr>
              <a:t>防御心态：从「防住」切换到「检测 + 止血 + 回滚」</a:t>
            </a:r>
            <a:endParaRPr lang="en-US" sz="1400" noProof="1"/>
          </a:p>
        </p:txBody>
      </p:sp>
      <p:sp>
        <p:nvSpPr>
          <p:cNvPr id="24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25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云端进化层设计评审</a:t>
            </a:r>
            <a:endParaRPr lang="en-US" sz="1100" noProof="1"/>
          </a:p>
        </p:txBody>
      </p:sp>
      <p:sp>
        <p:nvSpPr>
          <p:cNvPr id="26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10 / 15</a:t>
            </a:r>
            <a:endParaRPr lang="en-US" sz="11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06 · 安全模型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333333"/>
                </a:solidFill>
                <a:latin typeface="MiSans"/>
                <a:ea typeface="MiSans"/>
              </a:rPr>
              <a:t>四层防御：对策全是机制，不是约定</a:t>
            </a:r>
            <a:endParaRPr lang="en-US" sz="27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L1"/>
          <p:cNvSpPr/>
          <p:nvPr/>
        </p:nvSpPr>
        <p:spPr>
          <a:xfrm>
            <a:off x="762000" y="1676400"/>
            <a:ext cx="7874000" cy="889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</p:sp>
      <p:sp>
        <p:nvSpPr>
          <p:cNvPr id="6" name="L1T"/>
          <p:cNvSpPr txBox="1"/>
          <p:nvPr/>
        </p:nvSpPr>
        <p:spPr>
          <a:xfrm>
            <a:off x="965200" y="1803400"/>
            <a:ext cx="7493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本地层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　写入扫描 · 快照消毒 · 漂移检测 · 原子写 · 文件锁 · 审批制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防：注入内容进记忆、外部篡改、并发损坏、LLM 误操作</a:t>
            </a:r>
            <a:endParaRPr lang="en-US" sz="1300" noProof="1"/>
          </a:p>
        </p:txBody>
      </p:sp>
      <p:sp>
        <p:nvSpPr>
          <p:cNvPr id="7" name="L2"/>
          <p:cNvSpPr/>
          <p:nvPr/>
        </p:nvSpPr>
        <p:spPr>
          <a:xfrm>
            <a:off x="762000" y="2717800"/>
            <a:ext cx="7874000" cy="88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0011"/>
            </a:solidFill>
          </a:ln>
        </p:spPr>
      </p:sp>
      <p:sp>
        <p:nvSpPr>
          <p:cNvPr id="8" name="L2T"/>
          <p:cNvSpPr txBox="1"/>
          <p:nvPr/>
        </p:nvSpPr>
        <p:spPr>
          <a:xfrm>
            <a:off x="965200" y="2844800"/>
            <a:ext cx="7493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上行层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　白名单 schema · condition 枚举化 · 聚合风险检查 · 明文审批 · 双层身份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防：显式 PII 泄漏、马赛克效应、跨会话身份画像</a:t>
            </a:r>
            <a:endParaRPr lang="en-US" sz="1300" noProof="1"/>
          </a:p>
        </p:txBody>
      </p:sp>
      <p:sp>
        <p:nvSpPr>
          <p:cNvPr id="9" name="L3"/>
          <p:cNvSpPr/>
          <p:nvPr/>
        </p:nvSpPr>
        <p:spPr>
          <a:xfrm>
            <a:off x="762000" y="3759200"/>
            <a:ext cx="7874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10" name="L3T"/>
          <p:cNvSpPr txBox="1"/>
          <p:nvPr/>
        </p:nvSpPr>
        <p:spPr>
          <a:xfrm>
            <a:off x="965200" y="3886200"/>
            <a:ext cx="7493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云端层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　隔离区三「永不」 · k-匿名晋升 · 信誉加权 + Sybil 检测 · Canary · gen ≤ 2 · TTL 淘汰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防：共识毒化（上行向）、群体坍缩、错误固化</a:t>
            </a:r>
            <a:endParaRPr lang="en-US" sz="1300" noProof="1"/>
          </a:p>
        </p:txBody>
      </p:sp>
      <p:sp>
        <p:nvSpPr>
          <p:cNvPr id="11" name="L4"/>
          <p:cNvSpPr/>
          <p:nvPr/>
        </p:nvSpPr>
        <p:spPr>
          <a:xfrm>
            <a:off x="762000" y="4800600"/>
            <a:ext cx="7874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</p:sp>
      <p:sp>
        <p:nvSpPr>
          <p:cNvPr id="12" name="L4T"/>
          <p:cNvSpPr txBox="1"/>
          <p:nvPr/>
        </p:nvSpPr>
        <p:spPr>
          <a:xfrm>
            <a:off x="965200" y="4927600"/>
            <a:ext cx="7493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下行层 + 事后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　验签 · 五层注入检测 · 独立命名空间 · 上下文账本 · 一键回滚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防：共识毒化（下行向：注入载体）；假设失陷后的归因与止血</a:t>
            </a:r>
            <a:endParaRPr lang="en-US" sz="1300" noProof="1"/>
          </a:p>
        </p:txBody>
      </p:sp>
      <p:sp>
        <p:nvSpPr>
          <p:cNvPr id="13" name="sideBar"/>
          <p:cNvSpPr/>
          <p:nvPr/>
        </p:nvSpPr>
        <p:spPr>
          <a:xfrm>
            <a:off x="9042400" y="1676400"/>
            <a:ext cx="38100" cy="40132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14" name="sideT"/>
          <p:cNvSpPr txBox="1"/>
          <p:nvPr/>
        </p:nvSpPr>
        <p:spPr>
          <a:xfrm>
            <a:off x="9347200" y="1676400"/>
            <a:ext cx="2159000" cy="401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总纲</a:t>
            </a:r>
            <a:endParaRPr lang="en-US" sz="1300" noProof="1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白名单，而非黑名单</a:t>
            </a:r>
            <a:endParaRPr lang="en-US" sz="1300" noProof="1"/>
          </a:p>
          <a:p>
            <a:pPr>
              <a:lnSpc>
                <a:spcPct val="165000"/>
              </a:lnSpc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k 门槛，而非内容审核</a:t>
            </a:r>
            <a:endParaRPr lang="en-US" sz="1300" noProof="1"/>
          </a:p>
          <a:p>
            <a:pPr>
              <a:lnSpc>
                <a:spcPct val="165000"/>
              </a:lnSpc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gen 上限，而非「提炼时注意」</a:t>
            </a:r>
            <a:endParaRPr lang="en-US" sz="1300" noProof="1"/>
          </a:p>
          <a:p>
            <a:pPr>
              <a:lnSpc>
                <a:spcPct val="165000"/>
              </a:lnSpc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命名空间隔离，而非「注入时小心」</a:t>
            </a:r>
            <a:endParaRPr lang="en-US" sz="1300" noProof="1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DB0011"/>
                </a:solidFill>
                <a:latin typeface="MiSans"/>
                <a:ea typeface="MiSans"/>
              </a:rPr>
              <a:t>检测会失手，结构不会累</a:t>
            </a:r>
            <a:endParaRPr lang="en-US" sz="1300" noProof="1"/>
          </a:p>
        </p:txBody>
      </p:sp>
      <p:sp>
        <p:nvSpPr>
          <p:cNvPr id="15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6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云端进化层设计评审</a:t>
            </a:r>
            <a:endParaRPr lang="en-US" sz="1100" noProof="1"/>
          </a:p>
        </p:txBody>
      </p:sp>
      <p:sp>
        <p:nvSpPr>
          <p:cNvPr id="17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11 / 15</a:t>
            </a:r>
            <a:endParaRPr lang="en-US" sz="11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07 · 验证与效果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333333"/>
                </a:solidFill>
                <a:latin typeface="MiSans"/>
                <a:ea typeface="MiSans"/>
              </a:rPr>
              <a:t>每条机制都能指回出处</a:t>
            </a:r>
            <a:endParaRPr lang="en-US" sz="27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pp1"/>
          <p:cNvSpPr txBox="1"/>
          <p:nvPr/>
        </p:nvSpPr>
        <p:spPr>
          <a:xfrm>
            <a:off x="762000" y="17018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333333"/>
                </a:solidFill>
                <a:latin typeface="MiSans"/>
                <a:ea typeface="MiSans"/>
              </a:rPr>
              <a:t>G-Memory（NeurIPS 2025）</a:t>
            </a:r>
            <a:endParaRPr lang="en-US" sz="1600" noProof="1"/>
          </a:p>
        </p:txBody>
      </p:sp>
      <p:sp>
        <p:nvSpPr>
          <p:cNvPr id="6" name="pp1d"/>
          <p:cNvSpPr txBox="1"/>
          <p:nvPr/>
        </p:nvSpPr>
        <p:spPr>
          <a:xfrm>
            <a:off x="4699000" y="1701800"/>
            <a:ext cx="673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→ 分层晋升漏斗；共识只存 insight 级抽象，证据留哈希指针</a:t>
            </a:r>
            <a:endParaRPr lang="en-US" sz="1300" noProof="1"/>
          </a:p>
          <a:p>
            <a:pPr>
              <a:lnSpc>
                <a:spcPct val="145000"/>
              </a:lnSpc>
            </a:pPr>
            <a:r>
              <a:rPr lang="en-US" sz="130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arXiv:2506.07398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　</a:t>
            </a:r>
            <a:r>
              <a:rPr lang="en-US" sz="1300" noProof="1">
                <a:solidFill>
                  <a:srgbClr val="777777"/>
                </a:solidFill>
                <a:latin typeface="MiSans"/>
                <a:ea typeface="MiSans"/>
              </a:rPr>
              <a:t>NUS / 同济 / UCLA / A*STAR / NTU</a:t>
            </a:r>
            <a:endParaRPr lang="en-US" sz="1300" noProof="1"/>
          </a:p>
        </p:txBody>
      </p:sp>
      <p:sp>
        <p:nvSpPr>
          <p:cNvPr id="7" name="r1"/>
          <p:cNvSpPr/>
          <p:nvPr/>
        </p:nvSpPr>
        <p:spPr>
          <a:xfrm>
            <a:off x="762000" y="23876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8" name="pp2"/>
          <p:cNvSpPr txBox="1"/>
          <p:nvPr/>
        </p:nvSpPr>
        <p:spPr>
          <a:xfrm>
            <a:off x="762000" y="2616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333333"/>
                </a:solidFill>
                <a:latin typeface="MiSans"/>
                <a:ea typeface="MiSans"/>
              </a:rPr>
              <a:t>ACE（ICLR 2026）</a:t>
            </a:r>
            <a:endParaRPr lang="en-US" sz="1600" noProof="1"/>
          </a:p>
        </p:txBody>
      </p:sp>
      <p:sp>
        <p:nvSpPr>
          <p:cNvPr id="9" name="pp2d"/>
          <p:cNvSpPr txBox="1"/>
          <p:nvPr/>
        </p:nvSpPr>
        <p:spPr>
          <a:xfrm>
            <a:off x="4699000" y="2616200"/>
            <a:ext cx="673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→ delta 增量下发 + 确定性 merge；gen ≤ 2 防 context collapse</a:t>
            </a:r>
            <a:endParaRPr lang="en-US" sz="1300" noProof="1"/>
          </a:p>
          <a:p>
            <a:pPr>
              <a:lnSpc>
                <a:spcPct val="145000"/>
              </a:lnSpc>
            </a:pPr>
            <a:r>
              <a:rPr lang="en-US" sz="1300" noProof="1" u="sng">
                <a:solidFill>
                  <a:srgbClr val="0563C1"/>
                </a:solidFill>
                <a:latin typeface="MiSans"/>
                <a:ea typeface="MiSans"/>
                <a:hlinkClick r:id="rId4"/>
              </a:rPr>
              <a:t>arXiv:2510.04618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　</a:t>
            </a:r>
            <a:r>
              <a:rPr lang="en-US" sz="1300" noProof="1">
                <a:solidFill>
                  <a:srgbClr val="777777"/>
                </a:solidFill>
                <a:latin typeface="MiSans"/>
                <a:ea typeface="MiSans"/>
              </a:rPr>
              <a:t>Stanford / UC Berkeley / SambaNova</a:t>
            </a:r>
            <a:endParaRPr lang="en-US" sz="1300" noProof="1"/>
          </a:p>
        </p:txBody>
      </p:sp>
      <p:sp>
        <p:nvSpPr>
          <p:cNvPr id="10" name="r2"/>
          <p:cNvSpPr/>
          <p:nvPr/>
        </p:nvSpPr>
        <p:spPr>
          <a:xfrm>
            <a:off x="762000" y="33020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1" name="pp3"/>
          <p:cNvSpPr txBox="1"/>
          <p:nvPr/>
        </p:nvSpPr>
        <p:spPr>
          <a:xfrm>
            <a:off x="762000" y="35306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333333"/>
                </a:solidFill>
                <a:latin typeface="MiSans"/>
                <a:ea typeface="MiSans"/>
              </a:rPr>
              <a:t>ReasoningBank（2025-09）</a:t>
            </a:r>
            <a:endParaRPr lang="en-US" sz="1600" noProof="1"/>
          </a:p>
        </p:txBody>
      </p:sp>
      <p:sp>
        <p:nvSpPr>
          <p:cNvPr id="12" name="pp3d"/>
          <p:cNvSpPr txBox="1"/>
          <p:nvPr/>
        </p:nvSpPr>
        <p:spPr>
          <a:xfrm>
            <a:off x="4699000" y="3530600"/>
            <a:ext cx="673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→ 失败蒸馏独立管道；坑点 / guardrail 型共识下发加权</a:t>
            </a:r>
            <a:endParaRPr lang="en-US" sz="1300" noProof="1"/>
          </a:p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777777"/>
                </a:solidFill>
                <a:latin typeface="MiSans"/>
                <a:ea typeface="MiSans"/>
              </a:rPr>
              <a:t>Google DeepMind，arXiv 预印本</a:t>
            </a:r>
            <a:endParaRPr lang="en-US" sz="1300" noProof="1"/>
          </a:p>
        </p:txBody>
      </p:sp>
      <p:sp>
        <p:nvSpPr>
          <p:cNvPr id="13" name="r3"/>
          <p:cNvSpPr/>
          <p:nvPr/>
        </p:nvSpPr>
        <p:spPr>
          <a:xfrm>
            <a:off x="762000" y="4216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4" name="pp4"/>
          <p:cNvSpPr txBox="1"/>
          <p:nvPr/>
        </p:nvSpPr>
        <p:spPr>
          <a:xfrm>
            <a:off x="762000" y="44450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333333"/>
                </a:solidFill>
                <a:latin typeface="MiSans"/>
                <a:ea typeface="MiSans"/>
              </a:rPr>
              <a:t>A-MEM（NeurIPS 2025）</a:t>
            </a:r>
            <a:endParaRPr lang="en-US" sz="1600" noProof="1"/>
          </a:p>
        </p:txBody>
      </p:sp>
      <p:sp>
        <p:nvSpPr>
          <p:cNvPr id="15" name="pp4d"/>
          <p:cNvSpPr txBox="1"/>
          <p:nvPr/>
        </p:nvSpPr>
        <p:spPr>
          <a:xfrm>
            <a:off x="4699000" y="4445000"/>
            <a:ext cx="673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→ 共识库链接网络；新证据触发 refine，用 supersede 替代原地改写</a:t>
            </a:r>
            <a:endParaRPr lang="en-US" sz="1300" noProof="1"/>
          </a:p>
          <a:p>
            <a:pPr>
              <a:lnSpc>
                <a:spcPct val="145000"/>
              </a:lnSpc>
            </a:pPr>
            <a:r>
              <a:rPr lang="en-US" sz="1300" noProof="1" u="sng">
                <a:solidFill>
                  <a:srgbClr val="0563C1"/>
                </a:solidFill>
                <a:latin typeface="MiSans"/>
                <a:ea typeface="MiSans"/>
                <a:hlinkClick r:id="rId5"/>
              </a:rPr>
              <a:t>arXiv:2502.12110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　</a:t>
            </a:r>
            <a:r>
              <a:rPr lang="en-US" sz="1300" noProof="1">
                <a:solidFill>
                  <a:srgbClr val="777777"/>
                </a:solidFill>
                <a:latin typeface="MiSans"/>
                <a:ea typeface="MiSans"/>
              </a:rPr>
              <a:t>Rutgers · Zettelkasten 卡片盒</a:t>
            </a:r>
            <a:endParaRPr lang="en-US" sz="1300" noProof="1"/>
          </a:p>
        </p:txBody>
      </p:sp>
      <p:sp>
        <p:nvSpPr>
          <p:cNvPr id="16" name="r4"/>
          <p:cNvSpPr/>
          <p:nvPr/>
        </p:nvSpPr>
        <p:spPr>
          <a:xfrm>
            <a:off x="762000" y="51308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7" name="note"/>
          <p:cNvSpPr txBox="1"/>
          <p:nvPr/>
        </p:nvSpPr>
        <p:spPr>
          <a:xfrm>
            <a:off x="762000" y="5410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攻防侧另有 Murmur / MINJA / AgentPoison / MemAudit / 自适应攻击等文献支撑威胁模型。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DB0011"/>
                </a:solidFill>
                <a:latin typeface="MiSans"/>
                <a:ea typeface="MiSans"/>
              </a:rPr>
              <a:t>立场：设计阶段不虚构测试数据</a:t>
            </a:r>
            <a:r>
              <a:rPr lang="en-US" sz="1300" noProof="1">
                <a:solidFill>
                  <a:srgbClr val="777777"/>
                </a:solidFill>
                <a:latin typeface="MiSans"/>
                <a:ea typeface="MiSans"/>
              </a:rPr>
              <a:t>——下一页指标为模拟环境目标值，替换路径随里程碑给出。</a:t>
            </a:r>
            <a:endParaRPr lang="en-US" sz="1300" noProof="1"/>
          </a:p>
        </p:txBody>
      </p:sp>
      <p:sp>
        <p:nvSpPr>
          <p:cNvPr id="18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9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云端进化层设计评审</a:t>
            </a:r>
            <a:endParaRPr lang="en-US" sz="1100" noProof="1"/>
          </a:p>
        </p:txBody>
      </p:sp>
      <p:sp>
        <p:nvSpPr>
          <p:cNvPr id="20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12 / 15</a:t>
            </a:r>
            <a:endParaRPr lang="en-US" sz="11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07 · 验证与效果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333333"/>
                </a:solidFill>
                <a:latin typeface="MiSans"/>
                <a:ea typeface="MiSans"/>
              </a:rPr>
              <a:t>模拟环境下的关键指标</a:t>
            </a:r>
            <a:endParaRPr lang="en-US" sz="27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banner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B0011"/>
            </a:solidFill>
          </a:ln>
        </p:spPr>
      </p:sp>
      <p:sp>
        <p:nvSpPr>
          <p:cNvPr id="6" name="bannerT"/>
          <p:cNvSpPr txBox="1"/>
          <p:nvPr/>
        </p:nvSpPr>
        <p:spPr>
          <a:xfrm>
            <a:off x="965200" y="1524000"/>
            <a:ext cx="10287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DB0011"/>
                </a:solidFill>
                <a:latin typeface="MiSans"/>
                <a:ea typeface="MiSans"/>
              </a:rPr>
              <a:t>⚠ 本页为模拟示例数据（200 用户 · 30 天 · 4 频道仿真），对外展示前必须以实测替换</a:t>
            </a:r>
            <a:endParaRPr lang="en-US" sz="1300" noProof="1"/>
          </a:p>
        </p:txBody>
      </p:sp>
      <p:sp>
        <p:nvSpPr>
          <p:cNvPr id="7" name="m1"/>
          <p:cNvSpPr txBox="1"/>
          <p:nvPr/>
        </p:nvSpPr>
        <p:spPr>
          <a:xfrm>
            <a:off x="762000" y="2438400"/>
            <a:ext cx="3302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200" noProof="1" b="1">
                <a:solidFill>
                  <a:srgbClr val="DB0011"/>
                </a:solidFill>
                <a:latin typeface="JetBrains Mono"/>
                <a:ea typeface="JetBrains Mono"/>
              </a:rPr>
              <a:t>92%</a:t>
            </a:r>
            <a:endParaRPr lang="en-US" sz="3200" noProof="1"/>
          </a:p>
        </p:txBody>
      </p:sp>
      <p:sp>
        <p:nvSpPr>
          <p:cNvPr id="8" name="m1d"/>
          <p:cNvSpPr txBox="1"/>
          <p:nvPr/>
        </p:nvSpPr>
        <p:spPr>
          <a:xfrm>
            <a:off x="762000" y="3022600"/>
            <a:ext cx="330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白名单拦截率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非结构化条目无法上行</a:t>
            </a:r>
            <a:endParaRPr lang="en-US" sz="1200" noProof="1"/>
          </a:p>
        </p:txBody>
      </p:sp>
      <p:sp>
        <p:nvSpPr>
          <p:cNvPr id="9" name="m2"/>
          <p:cNvSpPr txBox="1"/>
          <p:nvPr/>
        </p:nvSpPr>
        <p:spPr>
          <a:xfrm>
            <a:off x="4445000" y="2438400"/>
            <a:ext cx="3302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200" noProof="1" b="1">
                <a:solidFill>
                  <a:srgbClr val="DB0011"/>
                </a:solidFill>
                <a:latin typeface="JetBrains Mono"/>
                <a:ea typeface="JetBrains Mono"/>
              </a:rPr>
              <a:t>87 条</a:t>
            </a:r>
            <a:endParaRPr lang="en-US" sz="3200" noProof="1"/>
          </a:p>
        </p:txBody>
      </p:sp>
      <p:sp>
        <p:nvSpPr>
          <p:cNvPr id="10" name="m2d"/>
          <p:cNvSpPr txBox="1"/>
          <p:nvPr/>
        </p:nvSpPr>
        <p:spPr>
          <a:xfrm>
            <a:off x="4445000" y="3022600"/>
            <a:ext cx="330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坑点共识产出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平均晋升周期 4.2 天</a:t>
            </a:r>
            <a:endParaRPr lang="en-US" sz="1200" noProof="1"/>
          </a:p>
        </p:txBody>
      </p:sp>
      <p:sp>
        <p:nvSpPr>
          <p:cNvPr id="11" name="m3"/>
          <p:cNvSpPr txBox="1"/>
          <p:nvPr/>
        </p:nvSpPr>
        <p:spPr>
          <a:xfrm>
            <a:off x="8128000" y="2438400"/>
            <a:ext cx="3302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200" noProof="1" b="1">
                <a:solidFill>
                  <a:srgbClr val="DB0011"/>
                </a:solidFill>
                <a:latin typeface="JetBrains Mono"/>
                <a:ea typeface="JetBrains Mono"/>
              </a:rPr>
              <a:t>96%</a:t>
            </a:r>
            <a:endParaRPr lang="en-US" sz="3200" noProof="1"/>
          </a:p>
        </p:txBody>
      </p:sp>
      <p:sp>
        <p:nvSpPr>
          <p:cNvPr id="12" name="m3d"/>
          <p:cNvSpPr txBox="1"/>
          <p:nvPr/>
        </p:nvSpPr>
        <p:spPr>
          <a:xfrm>
            <a:off x="8128000" y="3022600"/>
            <a:ext cx="330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下行注入检出率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已知攻击集回放</a:t>
            </a:r>
            <a:endParaRPr lang="en-US" sz="1200" noProof="1"/>
          </a:p>
        </p:txBody>
      </p:sp>
      <p:sp>
        <p:nvSpPr>
          <p:cNvPr id="13" name="m4"/>
          <p:cNvSpPr txBox="1"/>
          <p:nvPr/>
        </p:nvSpPr>
        <p:spPr>
          <a:xfrm>
            <a:off x="762000" y="3937000"/>
            <a:ext cx="3302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200" noProof="1" b="1">
                <a:solidFill>
                  <a:srgbClr val="DB0011"/>
                </a:solidFill>
                <a:latin typeface="JetBrains Mono"/>
                <a:ea typeface="JetBrains Mono"/>
              </a:rPr>
              <a:t>&lt; 2 秒</a:t>
            </a:r>
            <a:endParaRPr lang="en-US" sz="3200" noProof="1"/>
          </a:p>
        </p:txBody>
      </p:sp>
      <p:sp>
        <p:nvSpPr>
          <p:cNvPr id="14" name="m4d"/>
          <p:cNvSpPr txBox="1"/>
          <p:nvPr/>
        </p:nvSpPr>
        <p:spPr>
          <a:xfrm>
            <a:off x="762000" y="4521200"/>
            <a:ext cx="330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共识回滚耗时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版本历史 10 版</a:t>
            </a:r>
            <a:endParaRPr lang="en-US" sz="1200" noProof="1"/>
          </a:p>
        </p:txBody>
      </p:sp>
      <p:sp>
        <p:nvSpPr>
          <p:cNvPr id="15" name="m5"/>
          <p:cNvSpPr txBox="1"/>
          <p:nvPr/>
        </p:nvSpPr>
        <p:spPr>
          <a:xfrm>
            <a:off x="4445000" y="3937000"/>
            <a:ext cx="3683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200" noProof="1" b="1">
                <a:solidFill>
                  <a:srgbClr val="DB0011"/>
                </a:solidFill>
                <a:latin typeface="JetBrains Mono"/>
                <a:ea typeface="JetBrains Mono"/>
              </a:rPr>
              <a:t>78% → 4%</a:t>
            </a:r>
            <a:endParaRPr lang="en-US" sz="3200" noProof="1"/>
          </a:p>
        </p:txBody>
      </p:sp>
      <p:sp>
        <p:nvSpPr>
          <p:cNvPr id="16" name="m5d"/>
          <p:cNvSpPr txBox="1"/>
          <p:nvPr/>
        </p:nvSpPr>
        <p:spPr>
          <a:xfrm>
            <a:off x="4445000" y="4521200"/>
            <a:ext cx="3683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投毒成功率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无防御基线 → 本设计</a:t>
            </a:r>
            <a:endParaRPr lang="en-US" sz="1200" noProof="1"/>
          </a:p>
        </p:txBody>
      </p:sp>
      <p:sp>
        <p:nvSpPr>
          <p:cNvPr id="17" name="m6"/>
          <p:cNvSpPr txBox="1"/>
          <p:nvPr/>
        </p:nvSpPr>
        <p:spPr>
          <a:xfrm>
            <a:off x="8128000" y="3937000"/>
            <a:ext cx="3302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200" noProof="1" b="1">
                <a:solidFill>
                  <a:srgbClr val="DB0011"/>
                </a:solidFill>
                <a:latin typeface="JetBrains Mono"/>
                <a:ea typeface="JetBrains Mono"/>
              </a:rPr>
              <a:t>&lt; 15%</a:t>
            </a:r>
            <a:endParaRPr lang="en-US" sz="3200" noProof="1"/>
          </a:p>
        </p:txBody>
      </p:sp>
      <p:sp>
        <p:nvSpPr>
          <p:cNvPr id="18" name="m6d"/>
          <p:cNvSpPr txBox="1"/>
          <p:nvPr/>
        </p:nvSpPr>
        <p:spPr>
          <a:xfrm>
            <a:off x="8128000" y="4521200"/>
            <a:ext cx="330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共识注入上下文占比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TEAM.md 块 &lt; 800 字符</a:t>
            </a:r>
            <a:endParaRPr lang="en-US" sz="1200" noProof="1"/>
          </a:p>
        </p:txBody>
      </p:sp>
      <p:sp>
        <p:nvSpPr>
          <p:cNvPr id="19" name="basis"/>
          <p:cNvSpPr txBox="1"/>
          <p:nvPr/>
        </p:nvSpPr>
        <p:spPr>
          <a:xfrm>
            <a:off x="762000" y="5384800"/>
            <a:ext cx="1066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方法：聚合管线蒙特卡洛仿真 + MINJA / Murmur 攻击变体回放（示例口径）。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替换路径：M1–M3 验收实采</a:t>
            </a:r>
            <a:r>
              <a:rPr lang="en-US" sz="1200" noProof="1" b="1">
                <a:solidFill>
                  <a:srgbClr val="777777"/>
                </a:solidFill>
                <a:latin typeface="MiSans"/>
                <a:ea typeface="MiSans"/>
              </a:rPr>
              <a:t>拦截率、晋升周期、检出率、回滚耗时</a:t>
            </a: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四项后更新本页。</a:t>
            </a:r>
            <a:endParaRPr lang="en-US" sz="1200" noProof="1"/>
          </a:p>
        </p:txBody>
      </p:sp>
      <p:sp>
        <p:nvSpPr>
          <p:cNvPr id="20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21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云端进化层设计评审</a:t>
            </a:r>
            <a:endParaRPr lang="en-US" sz="1100" noProof="1"/>
          </a:p>
        </p:txBody>
      </p:sp>
      <p:sp>
        <p:nvSpPr>
          <p:cNvPr id="22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13 / 15</a:t>
            </a:r>
            <a:endParaRPr lang="en-US" sz="11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DB0011"/>
                </a:solidFill>
                <a:latin typeface="MiSans"/>
                <a:ea typeface="MiSans"/>
              </a:rPr>
              <a:t>08 · 落地与扩展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700" noProof="1" b="1">
                <a:solidFill>
                  <a:srgbClr val="333333"/>
                </a:solidFill>
                <a:latin typeface="MiSans"/>
                <a:ea typeface="MiSans"/>
              </a:rPr>
              <a:t>五个里程碑，随时可停</a:t>
            </a:r>
            <a:endParaRPr lang="en-US" sz="2700" noProof="1"/>
          </a:p>
        </p:txBody>
      </p:sp>
      <p:sp>
        <p:nvSpPr>
          <p:cNvPr id="4" name="titlebar"/>
          <p:cNvSpPr/>
          <p:nvPr/>
        </p:nvSpPr>
        <p:spPr>
          <a:xfrm>
            <a:off x="762000" y="1295400"/>
            <a:ext cx="584200" cy="508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5" name="axis"/>
          <p:cNvSpPr/>
          <p:nvPr/>
        </p:nvSpPr>
        <p:spPr>
          <a:xfrm>
            <a:off x="1016000" y="2489200"/>
            <a:ext cx="101600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6" name="nd1"/>
          <p:cNvSpPr/>
          <p:nvPr/>
        </p:nvSpPr>
        <p:spPr>
          <a:xfrm>
            <a:off x="1168400" y="2387600"/>
            <a:ext cx="228600" cy="2286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7" name="m1t"/>
          <p:cNvSpPr txBox="1"/>
          <p:nvPr/>
        </p:nvSpPr>
        <p:spPr>
          <a:xfrm>
            <a:off x="838200" y="2819400"/>
            <a:ext cx="1905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M1 本地上行门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白名单校验 + 审批打包到 outbox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验收：无云端也能跑通</a:t>
            </a:r>
            <a:endParaRPr lang="en-US" sz="1200" noProof="1"/>
          </a:p>
        </p:txBody>
      </p:sp>
      <p:sp>
        <p:nvSpPr>
          <p:cNvPr id="8" name="nd2"/>
          <p:cNvSpPr/>
          <p:nvPr/>
        </p:nvSpPr>
        <p:spPr>
          <a:xfrm>
            <a:off x="3200400" y="2387600"/>
            <a:ext cx="228600" cy="2286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9" name="m2t"/>
          <p:cNvSpPr txBox="1"/>
          <p:nvPr/>
        </p:nvSpPr>
        <p:spPr>
          <a:xfrm>
            <a:off x="2870200" y="2819400"/>
            <a:ext cx="1905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M2 云端聚合核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隔离区 + k 门槛 + 语义聚类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验收：模拟 N 客户端上行</a:t>
            </a:r>
            <a:endParaRPr lang="en-US" sz="1200" noProof="1"/>
          </a:p>
        </p:txBody>
      </p:sp>
      <p:sp>
        <p:nvSpPr>
          <p:cNvPr id="10" name="nd3"/>
          <p:cNvSpPr/>
          <p:nvPr/>
        </p:nvSpPr>
        <p:spPr>
          <a:xfrm>
            <a:off x="5232400" y="2387600"/>
            <a:ext cx="228600" cy="228600"/>
          </a:xfrm>
          <a:prstGeom prst="rect">
            <a:avLst/>
          </a:prstGeom>
          <a:solidFill>
            <a:srgbClr val="DB0011"/>
          </a:solidFill>
          <a:ln>
            <a:noFill/>
          </a:ln>
        </p:spPr>
      </p:sp>
      <p:sp>
        <p:nvSpPr>
          <p:cNvPr id="11" name="m3t"/>
          <p:cNvSpPr txBox="1"/>
          <p:nvPr/>
        </p:nvSpPr>
        <p:spPr>
          <a:xfrm>
            <a:off x="4902200" y="2819400"/>
            <a:ext cx="1905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M3 下行链路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签名 delta + TEAM.md + 审批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验收：端到端审批可见</a:t>
            </a:r>
            <a:endParaRPr lang="en-US" sz="1200" noProof="1"/>
          </a:p>
        </p:txBody>
      </p:sp>
      <p:sp>
        <p:nvSpPr>
          <p:cNvPr id="12" name="nd4"/>
          <p:cNvSpPr/>
          <p:nvPr/>
        </p:nvSpPr>
        <p:spPr>
          <a:xfrm>
            <a:off x="7264400" y="2387600"/>
            <a:ext cx="228600" cy="228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B0011"/>
            </a:solidFill>
          </a:ln>
        </p:spPr>
      </p:sp>
      <p:sp>
        <p:nvSpPr>
          <p:cNvPr id="13" name="m4t"/>
          <p:cNvSpPr txBox="1"/>
          <p:nvPr/>
        </p:nvSpPr>
        <p:spPr>
          <a:xfrm>
            <a:off x="6934200" y="2819400"/>
            <a:ext cx="1905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M4 反馈与淘汰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TTL 降级归档 + 反证分叉 + 回滚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验收：反证场景闭环</a:t>
            </a:r>
            <a:endParaRPr lang="en-US" sz="1200" noProof="1"/>
          </a:p>
        </p:txBody>
      </p:sp>
      <p:sp>
        <p:nvSpPr>
          <p:cNvPr id="14" name="nd5"/>
          <p:cNvSpPr/>
          <p:nvPr/>
        </p:nvSpPr>
        <p:spPr>
          <a:xfrm>
            <a:off x="9296400" y="2387600"/>
            <a:ext cx="228600" cy="228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B0011"/>
            </a:solidFill>
          </a:ln>
        </p:spPr>
      </p:sp>
      <p:sp>
        <p:nvSpPr>
          <p:cNvPr id="15" name="m5t"/>
          <p:cNvSpPr txBox="1"/>
          <p:nvPr/>
        </p:nvSpPr>
        <p:spPr>
          <a:xfrm>
            <a:off x="8966200" y="2819400"/>
            <a:ext cx="2032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333333"/>
                </a:solidFill>
                <a:latin typeface="MiSans"/>
                <a:ea typeface="MiSans"/>
              </a:rPr>
              <a:t>M5 防御强化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333333"/>
                </a:solidFill>
                <a:latin typeface="MiSans"/>
                <a:ea typeface="MiSans"/>
              </a:rPr>
              <a:t>双层身份 + 信誉 + Canary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验收：红队演练挨打不死</a:t>
            </a:r>
            <a:endParaRPr lang="en-US" sz="1200" noProof="1"/>
          </a:p>
        </p:txBody>
      </p:sp>
      <p:sp>
        <p:nvSpPr>
          <p:cNvPr id="16" name="loop"/>
          <p:cNvSpPr txBox="1"/>
          <p:nvPr/>
        </p:nvSpPr>
        <p:spPr>
          <a:xfrm>
            <a:off x="762000" y="41910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333333"/>
                </a:solidFill>
                <a:latin typeface="MiSans"/>
                <a:ea typeface="MiSans"/>
              </a:rPr>
              <a:t>M1–M3 价值闭环　·　M4 健康闭环　·　M5 生存闭环</a:t>
            </a:r>
            <a:endParaRPr lang="en-US" sz="1400" noProof="1"/>
          </a:p>
        </p:txBody>
      </p:sp>
      <p:sp>
        <p:nvSpPr>
          <p:cNvPr id="17" name="loopsub"/>
          <p:cNvSpPr txBox="1"/>
          <p:nvPr/>
        </p:nvSpPr>
        <p:spPr>
          <a:xfrm>
            <a:off x="762000" y="45466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77777"/>
                </a:solidFill>
                <a:latin typeface="MiSans"/>
                <a:ea typeface="MiSans"/>
              </a:rPr>
              <a:t>顺序理由：先让系统转起来，再让它能老能死，最后让它挨打不死；最重的身份密码学刻意放最后</a:t>
            </a:r>
            <a:endParaRPr lang="en-US" sz="1200" noProof="1"/>
          </a:p>
        </p:txBody>
      </p:sp>
      <p:sp>
        <p:nvSpPr>
          <p:cNvPr id="18" name="r1"/>
          <p:cNvSpPr/>
          <p:nvPr/>
        </p:nvSpPr>
        <p:spPr>
          <a:xfrm>
            <a:off x="762000" y="50292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9" name="week"/>
          <p:cNvSpPr txBox="1"/>
          <p:nvPr/>
        </p:nvSpPr>
        <p:spPr>
          <a:xfrm>
            <a:off x="762000" y="52832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本周动作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：跑通 M1–M3 验收，用实测值替换第 13 页六项示例数据。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777777"/>
                </a:solidFill>
                <a:latin typeface="MiSans"/>
                <a:ea typeface="MiSans"/>
              </a:rPr>
              <a:t>扩展性预留：新 Provider / 新 Evolution 阶段 / 新审批 payload 类型，均为现有扩展点挂接。</a:t>
            </a:r>
            <a:endParaRPr lang="en-US" sz="1300" noProof="1"/>
          </a:p>
        </p:txBody>
      </p:sp>
      <p:sp>
        <p:nvSpPr>
          <p:cNvPr id="20" name="footline"/>
          <p:cNvSpPr/>
          <p:nvPr/>
        </p:nvSpPr>
        <p:spPr>
          <a:xfrm>
            <a:off x="762000" y="6375400"/>
            <a:ext cx="10668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21" name="footl"/>
          <p:cNvSpPr txBox="1"/>
          <p:nvPr/>
        </p:nvSpPr>
        <p:spPr>
          <a:xfrm>
            <a:off x="762000" y="6477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memory-hub · 云端进化层设计评审</a:t>
            </a:r>
            <a:endParaRPr lang="en-US" sz="1100" noProof="1"/>
          </a:p>
        </p:txBody>
      </p:sp>
      <p:sp>
        <p:nvSpPr>
          <p:cNvPr id="22" name="footr"/>
          <p:cNvSpPr txBox="1"/>
          <p:nvPr/>
        </p:nvSpPr>
        <p:spPr>
          <a:xfrm>
            <a:off x="10668000" y="6477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77777"/>
                </a:solidFill>
                <a:latin typeface="MiSans"/>
                <a:ea typeface="MiSans"/>
              </a:rPr>
              <a:t>14 / 15</a:t>
            </a:r>
            <a:endParaRPr lang="en-US" sz="11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DB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1016000" y="12700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spc="400" kern="0">
                <a:solidFill>
                  <a:srgbClr val="FFFFFF"/>
                </a:solidFill>
                <a:latin typeface="MiSans"/>
                <a:ea typeface="MiSans"/>
              </a:rPr>
              <a:t>CLOSING</a:t>
            </a:r>
            <a:endParaRPr lang="en-US" sz="1300" noProof="1"/>
          </a:p>
        </p:txBody>
      </p:sp>
      <p:sp>
        <p:nvSpPr>
          <p:cNvPr id="3" name="s1"/>
          <p:cNvSpPr txBox="1"/>
          <p:nvPr/>
        </p:nvSpPr>
        <p:spPr>
          <a:xfrm>
            <a:off x="1016000" y="19050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FFFFFF"/>
                </a:solidFill>
                <a:latin typeface="MiSans"/>
                <a:ea typeface="MiSans"/>
              </a:rPr>
              <a:t>进化机制来自论文，防御机制来自攻击</a:t>
            </a:r>
            <a:endParaRPr lang="en-US" sz="2200" noProof="1"/>
          </a:p>
        </p:txBody>
      </p:sp>
      <p:sp>
        <p:nvSpPr>
          <p:cNvPr id="4" name="s2"/>
          <p:cNvSpPr txBox="1"/>
          <p:nvPr/>
        </p:nvSpPr>
        <p:spPr>
          <a:xfrm>
            <a:off x="1016000" y="25400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FFFFFF"/>
                </a:solidFill>
                <a:latin typeface="MiSans"/>
                <a:ea typeface="MiSans"/>
              </a:rPr>
              <a:t>坑的对策全是结构，不是检测</a:t>
            </a:r>
            <a:endParaRPr lang="en-US" sz="2200" noProof="1"/>
          </a:p>
        </p:txBody>
      </p:sp>
      <p:sp>
        <p:nvSpPr>
          <p:cNvPr id="5" name="s3"/>
          <p:cNvSpPr txBox="1"/>
          <p:nvPr/>
        </p:nvSpPr>
        <p:spPr>
          <a:xfrm>
            <a:off x="1016000" y="31750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FFFFFF"/>
                </a:solidFill>
                <a:latin typeface="MiSans"/>
                <a:ea typeface="MiSans"/>
              </a:rPr>
              <a:t>用户否决权贯穿始终，一切可回滚</a:t>
            </a:r>
            <a:endParaRPr lang="en-US" sz="2200" noProof="1"/>
          </a:p>
        </p:txBody>
      </p:sp>
      <p:sp>
        <p:nvSpPr>
          <p:cNvPr id="6" name="divider"/>
          <p:cNvSpPr/>
          <p:nvPr/>
        </p:nvSpPr>
        <p:spPr>
          <a:xfrm>
            <a:off x="1016000" y="3962400"/>
            <a:ext cx="1524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next"/>
          <p:cNvSpPr txBox="1"/>
          <p:nvPr/>
        </p:nvSpPr>
        <p:spPr>
          <a:xfrm>
            <a:off x="1016000" y="4267200"/>
            <a:ext cx="1016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FFFFFF"/>
                </a:solidFill>
                <a:latin typeface="MiSans"/>
                <a:ea typeface="MiSans"/>
              </a:rPr>
              <a:t>下一步：M1 上行门落地 · 评审反馈进入 v0.3 · 欢迎架构质询</a:t>
            </a:r>
            <a:endParaRPr lang="en-US" sz="1500" noProof="1"/>
          </a:p>
        </p:txBody>
      </p:sp>
      <p:sp>
        <p:nvSpPr>
          <p:cNvPr id="8" name="meta"/>
          <p:cNvSpPr txBox="1"/>
          <p:nvPr/>
        </p:nvSpPr>
        <p:spPr>
          <a:xfrm>
            <a:off x="1016000" y="5740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FFD9DE"/>
                </a:solidFill>
                <a:latin typeface="MiSans"/>
                <a:ea typeface="MiSans"/>
              </a:rPr>
              <a:t>memory-hub 完整设计文档 v0.2 · 本地内核（已实现）+ 云端进化层（草案）</a:t>
            </a:r>
            <a:endParaRPr lang="en-US" sz="12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15</Slides>
</Properties>
</file>

<file path=docProps/core.xml><?xml version="1.0" encoding="utf-8"?>
<cp:coreProperties xmlns:dc="http://purl.org/dc/elements/1.1/" xmlns:cp="http://schemas.openxmlformats.org/package/2006/metadata/core-properties">
  <dc:title>memory-hub：从单机记忆到群体进化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