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notesMasterIdLst>
    <p:notesMasterId r:id="rId20"/>
  </p:notesMasterIdLst>
  <p:sldSz cx="12192000" cy="6858000" type="custom"/>
  <p:notesSz cx="12192000" cy="6858000"/>
  <p:embeddedFontLst>
    <p:embeddedFont>
      <p:font typeface="MiSans" charset="-122" pitchFamily="34"/>
      <p:regular r:id="rId18"/>
    </p:embeddedFont>
    <p:embeddedFont>
      <p:font typeface="JetBrains Mono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one-line positioning — "Git for agent memory", not another vector store.</a:t>
            </a:r>
          </a:p>
          <a:p>
            <a:r>
              <a:rPr lang="en-US" sz="1200" noProof="1"/>
              <a:t>Tone: emphatic opening, slow pace. Likely Q: difference vs MemGPT/Zep? A: file-first + approval + group evolution. Suggested duration: 40s.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the pain isn't "can't remember" — it's "untrusted, uncontrolled, doesn't circulate".</a:t>
            </a:r>
          </a:p>
          <a:p>
            <a:r>
              <a:rPr lang="en-US" sz="1200" noProof="1"/>
              <a:t>Tone: explanatory; use the concrete scene of five users re-hitting one pitfall. Suggested duration: 60s.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the attack surface of shared memory is empirically demonstrated; defense must be built in.</a:t>
            </a:r>
          </a:p>
          <a:p>
            <a:r>
              <a:rPr lang="en-US" sz="1200" noProof="1"/>
              <a:t>Tone: emphatic — this page justifies every later safety design. Likely Q: why cite attack papers? A: the threat model shapes the design. Suggested duration: 60s.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four layers — clients, MCP server, four local subsystems, two optional cloud tiers; cloud is a module, not a dependency.</a:t>
            </a:r>
          </a:p>
          <a:p>
            <a:r>
              <a:rPr lang="en-US" sz="1200" noProof="1"/>
              <a:t>Tone: transitional. Detail: Cloud Gate has two directions — Uplink Gate decides "shareable?", TEAM.md namespace decides "trustworthy?". Suggested duration: 70s.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dual state is engineering-constraint-driven — memory freshness traded for prefix-cache stability.</a:t>
            </a:r>
          </a:p>
          <a:p>
            <a:r>
              <a:rPr lang="en-US" sz="1200" noProof="1"/>
              <a:t>Tone: explanatory; reviewers will probe this tradeoff. Likely Q: why chars not tokens? A: model-agnosticism. Suggested duration: 70s.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approval-gating is the project's DNA; the cloud layer just amplifies it — the LLM is an intern, not an admin.</a:t>
            </a:r>
          </a:p>
          <a:p>
            <a:r>
              <a:rPr lang="en-US" sz="1200" noProof="1"/>
              <a:t>Tone: emphatic. Detail: the ≥2 rule kills one-off instruction fixation; the cloud upgrades it to ≥k independent users. Suggested duration: 60s.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collective trust is a state machine over evidence flow, not a one-off judgment; every transition is a mechanical criterion — counts, thresholds, TTL.</a:t>
            </a:r>
          </a:p>
          <a:p>
            <a:r>
              <a:rPr lang="en-US" sz="1200" noProof="1"/>
              <a:t>Tone: explanatory — the single most important page. Detail: counter-evidence over 30% triggers a fork, not forced arbitration; conflicting consensus entries coexist with context tags. Suggested duration: 90s.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privacy by structure, not detection — detection tires, structure doesn't; the logic flips from "detect sensitive" to "whitelist only".</a:t>
            </a:r>
          </a:p>
          <a:p>
            <a:r>
              <a:rPr lang="en-US" sz="1200" noProof="1"/>
              <a:t>Tone: emphatic. Likely Q: long-tail misses? A: better miss than leak; k is per-channel tunable. Suggested duration: 80s.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all three constraints are mechanically checkable, no LLM goodwill needed; gen ≤ 2 defends against group-scale context collapse — summaries going hollow under an authority halo.</a:t>
            </a:r>
          </a:p>
          <a:p>
            <a:r>
              <a:rPr lang="en-US" sz="1200" noProof="1"/>
              <a:t>Tone: explanatory — name what each constraint defends against. Suggested duration: 80s.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no special door for inbound memory — it takes the same review queue as the LLM's own proposals; one more gate, not one less.</a:t>
            </a:r>
          </a:p>
          <a:p>
            <a:r>
              <a:rPr lang="en-US" sz="1200" noProof="1"/>
              <a:t>Tone: emphatic. Detail: the ledger makes every injection attributing and globally rollbackable. Suggested duration: 70s.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defense principles — structure over detection, governance over filtering, assume breach (contain) over assume purity (shield).</a:t>
            </a:r>
          </a:p>
          <a:p>
            <a:r>
              <a:rPr lang="en-US" sz="1200" noProof="1"/>
              <a:t>Tone: decisive. Likely Q: why a reputation identity if it weakens unlinkability? A: without it Sybil is unbeatable; we split it — the long-term key carries only a score, and only the operator can ever link the two. Suggested duration: 70s.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the mechanisms trace to 2025-2026 frontier work; read the sources at the links.</a:t>
            </a:r>
          </a:p>
          <a:p>
            <a:r>
              <a:rPr lang="en-US" sz="1200" noProof="1"/>
              <a:t>Tone: brisk. Detail: the attack literature is as important as the defense literature — every defense here is provoked by a named attack. Suggested duration: 60s.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the mechanisms are quantifiable — but every number on this page is a simulated placeholder, to be replaced by measured data this week before any external use.</a:t>
            </a:r>
          </a:p>
          <a:p>
            <a:r>
              <a:rPr lang="en-US" sz="1200" noProof="1"/>
              <a:t>Tone: candid. Detail: poisoning success 78% → 4% comes from attack-vs-defense scenario scripts, not field data. Suggested duration: 60s.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local-first, cloud later; M1 is nearly done, M2 is this week's priority, every stage has a rollback exit.</a:t>
            </a:r>
          </a:p>
          <a:p>
            <a:r>
              <a:rPr lang="en-US" sz="1200" noProof="1"/>
              <a:t>Tone: pragmatic. Detail: cold start admits a k=2 seed channel — an explicit, disclosed operator trust assumption. Suggested duration: 60s.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Core message: land the three statements; close on "user veto runs through everything, everything is rollbackable".</a:t>
            </a:r>
          </a:p>
          <a:p>
            <a:r>
              <a:rPr lang="en-US" sz="1200" noProof="1"/>
              <a:t>Tone: slow and firm. Suggested duration: 45s. Then Q&amp;A.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511.17671" TargetMode="External"/><Relationship Id="rId4" Type="http://schemas.openxmlformats.org/officeDocument/2006/relationships/hyperlink" Target="https://arxiv.org/abs/2506.07398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rxiv.org/abs/2502.12110" TargetMode="External"/><Relationship Id="rId4" Type="http://schemas.openxmlformats.org/officeDocument/2006/relationships/hyperlink" Target="https://arxiv.org/abs/2506.07398" TargetMode="External"/><Relationship Id="rId5" Type="http://schemas.openxmlformats.org/officeDocument/2006/relationships/hyperlink" Target="https://arxiv.org/abs/2510.04618" TargetMode="External"/><Relationship Id="rId6" Type="http://schemas.openxmlformats.org/officeDocument/2006/relationships/hyperlink" Target="https://arxiv.org/abs/2505.18279" TargetMode="External"/><Relationship Id="rId7" Type="http://schemas.openxmlformats.org/officeDocument/2006/relationships/hyperlink" Target="https://arxiv.org/abs/2503.00061" TargetMode="External"/><Relationship Id="rId8" Type="http://schemas.openxmlformats.org/officeDocument/2006/relationships/hyperlink" Target="https://arxiv.org/abs/2511.17671" TargetMode="External"/><Relationship Id="rId9" Type="http://schemas.openxmlformats.org/officeDocument/2006/relationships/hyperlink" Target="https://arxiv.org/abs/2605.23723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3" name="sideband"/>
          <p:cNvSpPr/>
          <p:nvPr/>
        </p:nvSpPr>
        <p:spPr>
          <a:xfrm>
            <a:off x="9144000" y="101600"/>
            <a:ext cx="3048000" cy="67564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" name="sidemark"/>
          <p:cNvSpPr/>
          <p:nvPr/>
        </p:nvSpPr>
        <p:spPr>
          <a:xfrm>
            <a:off x="9144000" y="101600"/>
            <a:ext cx="3048000" cy="762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idetext"/>
          <p:cNvSpPr txBox="1"/>
          <p:nvPr/>
        </p:nvSpPr>
        <p:spPr>
          <a:xfrm>
            <a:off x="9499600" y="5969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Local kernel v0.1.0 shipped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Cloud evolution layer · draft</a:t>
            </a:r>
            <a:endParaRPr lang="en-US" sz="1100" noProof="1"/>
          </a:p>
        </p:txBody>
      </p:sp>
      <p:sp>
        <p:nvSpPr>
          <p:cNvPr id="6" name="kickerbar"/>
          <p:cNvSpPr/>
          <p:nvPr/>
        </p:nvSpPr>
        <p:spPr>
          <a:xfrm>
            <a:off x="1016000" y="12192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7" name="kicker"/>
          <p:cNvSpPr txBox="1"/>
          <p:nvPr/>
        </p:nvSpPr>
        <p:spPr>
          <a:xfrm>
            <a:off x="1016000" y="1397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DB0011"/>
                </a:solidFill>
                <a:latin typeface="MiSans"/>
                <a:ea typeface="MiSans"/>
              </a:rPr>
              <a:t>TECHNICAL DESIGN REVIEW · 2026-09</a:t>
            </a:r>
            <a:endParaRPr lang="en-US" sz="1300" noProof="1"/>
          </a:p>
        </p:txBody>
      </p:sp>
      <p:sp>
        <p:nvSpPr>
          <p:cNvPr id="8" name="title"/>
          <p:cNvSpPr txBox="1"/>
          <p:nvPr/>
        </p:nvSpPr>
        <p:spPr>
          <a:xfrm>
            <a:off x="1016000" y="1981200"/>
            <a:ext cx="787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 b="1">
                <a:solidFill>
                  <a:srgbClr val="333333"/>
                </a:solidFill>
                <a:latin typeface="JetBrains Mono"/>
                <a:ea typeface="JetBrains Mono"/>
              </a:rPr>
              <a:t>memory-hub</a:t>
            </a:r>
            <a:endParaRPr lang="en-US" sz="4800" noProof="1"/>
          </a:p>
        </p:txBody>
      </p:sp>
      <p:sp>
        <p:nvSpPr>
          <p:cNvPr id="9" name="subtitle"/>
          <p:cNvSpPr txBox="1"/>
          <p:nvPr/>
        </p:nvSpPr>
        <p:spPr>
          <a:xfrm>
            <a:off x="1016000" y="2971800"/>
            <a:ext cx="787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333333"/>
                </a:solidFill>
                <a:latin typeface="MiSans"/>
                <a:ea typeface="MiSans"/>
              </a:rPr>
              <a:t>From solo memory to collective evolution: a shared memory hub for agents</a:t>
            </a:r>
            <a:endParaRPr lang="en-US" sz="2200" noProof="1"/>
          </a:p>
        </p:txBody>
      </p:sp>
      <p:sp>
        <p:nvSpPr>
          <p:cNvPr id="10" name="divider"/>
          <p:cNvSpPr/>
          <p:nvPr/>
        </p:nvSpPr>
        <p:spPr>
          <a:xfrm>
            <a:off x="1016000" y="3886200"/>
            <a:ext cx="1524000" cy="381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11" name="points"/>
          <p:cNvSpPr txBox="1"/>
          <p:nvPr/>
        </p:nvSpPr>
        <p:spPr>
          <a:xfrm>
            <a:off x="1016000" y="4165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777777"/>
                </a:solidFill>
                <a:latin typeface="MiSans"/>
                <a:ea typeface="MiSans"/>
              </a:rPr>
              <a:t>Local-first · Human-readable files · Approval-gated evolution · Opt-in cloud consensus</a:t>
            </a:r>
            <a:endParaRPr lang="en-US" sz="1500" noProof="1"/>
          </a:p>
        </p:txBody>
      </p:sp>
      <p:sp>
        <p:nvSpPr>
          <p:cNvPr id="12" name="meta"/>
          <p:cNvSpPr txBox="1"/>
          <p:nvPr/>
        </p:nvSpPr>
        <p:spPr>
          <a:xfrm>
            <a:off x="1016000" y="57404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v0.2 design draft · Audience: engineering / architecture review / partners</a:t>
            </a:r>
            <a:endParaRPr lang="en-US" sz="1200" noProof="1"/>
          </a:p>
        </p:txBody>
      </p:sp>
      <p:sp>
        <p:nvSpPr>
          <p:cNvPr id="13" name="footstrip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01 · BACKGROUND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Agent Memory Has Three Hard Problems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n1"/>
          <p:cNvSpPr txBox="1"/>
          <p:nvPr/>
        </p:nvSpPr>
        <p:spPr>
          <a:xfrm>
            <a:off x="762000" y="17780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01</a:t>
            </a:r>
            <a:endParaRPr lang="en-US" sz="2600" noProof="1"/>
          </a:p>
        </p:txBody>
      </p:sp>
      <p:sp>
        <p:nvSpPr>
          <p:cNvPr id="6" name="h1"/>
          <p:cNvSpPr txBox="1"/>
          <p:nvPr/>
        </p:nvSpPr>
        <p:spPr>
          <a:xfrm>
            <a:off x="1701800" y="177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Experience evaporates</a:t>
            </a:r>
            <a:endParaRPr lang="en-US" sz="1800" noProof="1"/>
          </a:p>
        </p:txBody>
      </p:sp>
      <p:sp>
        <p:nvSpPr>
          <p:cNvPr id="7" name="d1"/>
          <p:cNvSpPr txBox="1"/>
          <p:nvPr/>
        </p:nvSpPr>
        <p:spPr>
          <a:xfrm>
            <a:off x="1701800" y="21336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77777"/>
                </a:solidFill>
                <a:latin typeface="MiSans"/>
                <a:ea typeface="MiSans"/>
              </a:rPr>
              <a:t>Sessions end; every pitfall debugged and every usage verified vanishes with the context</a:t>
            </a:r>
            <a:endParaRPr lang="en-US" sz="1400" noProof="1"/>
          </a:p>
        </p:txBody>
      </p:sp>
      <p:sp>
        <p:nvSpPr>
          <p:cNvPr id="8" name="r1"/>
          <p:cNvSpPr/>
          <p:nvPr/>
        </p:nvSpPr>
        <p:spPr>
          <a:xfrm>
            <a:off x="1701800" y="2590800"/>
            <a:ext cx="8890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62000" y="29464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02</a:t>
            </a:r>
            <a:endParaRPr lang="en-US" sz="2600" noProof="1"/>
          </a:p>
        </p:txBody>
      </p:sp>
      <p:sp>
        <p:nvSpPr>
          <p:cNvPr id="10" name="h2"/>
          <p:cNvSpPr txBox="1"/>
          <p:nvPr/>
        </p:nvSpPr>
        <p:spPr>
          <a:xfrm>
            <a:off x="1701800" y="2946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Memory is unaccountable</a:t>
            </a:r>
            <a:endParaRPr lang="en-US" sz="1800" noProof="1"/>
          </a:p>
        </p:txBody>
      </p:sp>
      <p:sp>
        <p:nvSpPr>
          <p:cNvPr id="11" name="d2"/>
          <p:cNvSpPr txBox="1"/>
          <p:nvPr/>
        </p:nvSpPr>
        <p:spPr>
          <a:xfrm>
            <a:off x="1701800" y="33020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77777"/>
                </a:solidFill>
                <a:latin typeface="MiSans"/>
                <a:ea typeface="MiSans"/>
              </a:rPr>
              <a:t>Let AI edit memory freely and errors go unaudited; users lose control of their own memory</a:t>
            </a:r>
            <a:endParaRPr lang="en-US" sz="1400" noProof="1"/>
          </a:p>
        </p:txBody>
      </p:sp>
      <p:sp>
        <p:nvSpPr>
          <p:cNvPr id="12" name="r2"/>
          <p:cNvSpPr/>
          <p:nvPr/>
        </p:nvSpPr>
        <p:spPr>
          <a:xfrm>
            <a:off x="1701800" y="3759200"/>
            <a:ext cx="8890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62000" y="41148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03</a:t>
            </a:r>
            <a:endParaRPr lang="en-US" sz="2600" noProof="1"/>
          </a:p>
        </p:txBody>
      </p:sp>
      <p:sp>
        <p:nvSpPr>
          <p:cNvPr id="14" name="h3"/>
          <p:cNvSpPr txBox="1"/>
          <p:nvPr/>
        </p:nvSpPr>
        <p:spPr>
          <a:xfrm>
            <a:off x="1701800" y="4114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Knowledge doesn't circulate</a:t>
            </a:r>
            <a:endParaRPr lang="en-US" sz="1800" noProof="1"/>
          </a:p>
        </p:txBody>
      </p:sp>
      <p:sp>
        <p:nvSpPr>
          <p:cNvPr id="15" name="d3"/>
          <p:cNvSpPr txBox="1"/>
          <p:nvPr/>
        </p:nvSpPr>
        <p:spPr>
          <a:xfrm>
            <a:off x="1701800" y="44704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77777"/>
                </a:solidFill>
                <a:latin typeface="MiSans"/>
                <a:ea typeface="MiSans"/>
              </a:rPr>
              <a:t>Agents and users each keep private notes; everyone re-hits the same environment pitfalls</a:t>
            </a:r>
            <a:endParaRPr lang="en-US" sz="1400" noProof="1"/>
          </a:p>
        </p:txBody>
      </p:sp>
      <p:sp>
        <p:nvSpPr>
          <p:cNvPr id="16" name="conclusion"/>
          <p:cNvSpPr txBox="1"/>
          <p:nvPr/>
        </p:nvSpPr>
        <p:spPr>
          <a:xfrm>
            <a:off x="762000" y="5384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DB0011"/>
                </a:solidFill>
                <a:latin typeface="MiSans"/>
                <a:ea typeface="MiSans"/>
              </a:rPr>
              <a:t>The pain is not forgetting — it is memory you cannot trust, control, or share</a:t>
            </a:r>
            <a:endParaRPr lang="en-US" sz="1700" noProof="1"/>
          </a:p>
        </p:txBody>
      </p:sp>
      <p:sp>
        <p:nvSpPr>
          <p:cNvPr id="17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8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19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02 / 15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02 · THREAT MODEL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The Threat Is Real: Shared Memory Is Attackable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1"/>
          <p:cNvSpPr txBox="1"/>
          <p:nvPr/>
        </p:nvSpPr>
        <p:spPr>
          <a:xfrm>
            <a:off x="762000" y="17272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DB0011"/>
                </a:solidFill>
                <a:latin typeface="JetBrains Mono"/>
                <a:ea typeface="JetBrains Mono"/>
              </a:rPr>
              <a:t>&gt;95%</a:t>
            </a:r>
            <a:endParaRPr lang="en-US" sz="3400" noProof="1"/>
          </a:p>
        </p:txBody>
      </p:sp>
      <p:sp>
        <p:nvSpPr>
          <p:cNvPr id="6" name="s1d"/>
          <p:cNvSpPr txBox="1"/>
          <p:nvPr/>
        </p:nvSpPr>
        <p:spPr>
          <a:xfrm>
            <a:off x="3175000" y="17526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MINJA</a:t>
            </a: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: success rate of query-only memory injection into LLM agents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Black-box poisoning with no system access required</a:t>
            </a:r>
            <a:endParaRPr lang="en-US" sz="1400" noProof="1"/>
          </a:p>
        </p:txBody>
      </p:sp>
      <p:sp>
        <p:nvSpPr>
          <p:cNvPr id="7" name="r1"/>
          <p:cNvSpPr/>
          <p:nvPr/>
        </p:nvSpPr>
        <p:spPr>
          <a:xfrm>
            <a:off x="762000" y="25400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8" name="s2"/>
          <p:cNvSpPr txBox="1"/>
          <p:nvPr/>
        </p:nvSpPr>
        <p:spPr>
          <a:xfrm>
            <a:off x="762000" y="2844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DB0011"/>
                </a:solidFill>
                <a:latin typeface="JetBrains Mono"/>
                <a:ea typeface="JetBrains Mono"/>
              </a:rPr>
              <a:t>Murmur</a:t>
            </a:r>
            <a:endParaRPr lang="en-US" sz="3400" noProof="1"/>
          </a:p>
        </p:txBody>
      </p:sp>
      <p:sp>
        <p:nvSpPr>
          <p:cNvPr id="9" name="s2d"/>
          <p:cNvSpPr txBox="1"/>
          <p:nvPr/>
        </p:nvSpPr>
        <p:spPr>
          <a:xfrm>
            <a:off x="3175000" y="28702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Cross-user chatter poisoning</a:t>
            </a: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: shown to break collaborative agent groups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Cloud consensus = a new attack surface this design must face head-on</a:t>
            </a:r>
            <a:endParaRPr lang="en-US" sz="1400" noProof="1"/>
          </a:p>
        </p:txBody>
      </p:sp>
      <p:sp>
        <p:nvSpPr>
          <p:cNvPr id="10" name="r2"/>
          <p:cNvSpPr/>
          <p:nvPr/>
        </p:nvSpPr>
        <p:spPr>
          <a:xfrm>
            <a:off x="762000" y="36576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s3"/>
          <p:cNvSpPr txBox="1"/>
          <p:nvPr/>
        </p:nvSpPr>
        <p:spPr>
          <a:xfrm>
            <a:off x="762000" y="39624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DB0011"/>
                </a:solidFill>
                <a:latin typeface="MiSans"/>
                <a:ea typeface="MiSans"/>
              </a:rPr>
              <a:t>Slower</a:t>
            </a:r>
            <a:endParaRPr lang="en-US" sz="3400" noProof="1"/>
          </a:p>
        </p:txBody>
      </p:sp>
      <p:sp>
        <p:nvSpPr>
          <p:cNvPr id="12" name="s3d"/>
          <p:cNvSpPr txBox="1"/>
          <p:nvPr/>
        </p:nvSpPr>
        <p:spPr>
          <a:xfrm>
            <a:off x="3175000" y="3987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G-Memory ablation</a:t>
            </a: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: solo memory schemes dropped into multi-agent setups hurt some tasks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Going collective is not scaling up the solo design — aggregation semantics must be redesigned</a:t>
            </a:r>
            <a:endParaRPr lang="en-US" sz="1400" noProof="1"/>
          </a:p>
        </p:txBody>
      </p:sp>
      <p:sp>
        <p:nvSpPr>
          <p:cNvPr id="13" name="conclusion"/>
          <p:cNvSpPr txBox="1"/>
          <p:nvPr/>
        </p:nvSpPr>
        <p:spPr>
          <a:xfrm>
            <a:off x="762000" y="52578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DB0011"/>
                </a:solidFill>
                <a:latin typeface="MiSans"/>
                <a:ea typeface="MiSans"/>
              </a:rPr>
              <a:t>Conclusion: defense is not a feature — it is the first architectural constraint</a:t>
            </a:r>
            <a:endParaRPr lang="en-US" sz="1600" noProof="1"/>
          </a:p>
        </p:txBody>
      </p:sp>
      <p:sp>
        <p:nvSpPr>
          <p:cNvPr id="14" name="src"/>
          <p:cNvSpPr txBox="1"/>
          <p:nvPr/>
        </p:nvSpPr>
        <p:spPr>
          <a:xfrm>
            <a:off x="762000" y="56896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Murmur, arXiv:2511.17671</a:t>
            </a: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 · 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G-Memory, arXiv:2506.07398</a:t>
            </a: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 · AgentPoison (NeurIPS 2024)</a:t>
            </a:r>
            <a:endParaRPr lang="en-US" sz="1000" noProof="1"/>
          </a:p>
        </p:txBody>
      </p:sp>
      <p:sp>
        <p:nvSpPr>
          <p:cNvPr id="15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6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17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03 / 15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03 · OVERVIEW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Local Core + Optional Cloud Evolution Layer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clients"/>
          <p:cNvSpPr/>
          <p:nvPr/>
        </p:nvSpPr>
        <p:spPr>
          <a:xfrm>
            <a:off x="762000" y="1600200"/>
            <a:ext cx="4064000" cy="50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clientsT"/>
          <p:cNvSpPr txBox="1"/>
          <p:nvPr/>
        </p:nvSpPr>
        <p:spPr>
          <a:xfrm>
            <a:off x="762000" y="16002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MCP clients: Kimi Code · Claude Code · Hermes</a:t>
            </a:r>
            <a:endParaRPr lang="en-US" sz="1200" noProof="1"/>
          </a:p>
        </p:txBody>
      </p:sp>
      <p:sp>
        <p:nvSpPr>
          <p:cNvPr id="7" name="arr1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2730500" y="21590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server"/>
          <p:cNvSpPr/>
          <p:nvPr/>
        </p:nvSpPr>
        <p:spPr>
          <a:xfrm>
            <a:off x="762000" y="2489200"/>
            <a:ext cx="4064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9" name="serverT"/>
          <p:cNvSpPr txBox="1"/>
          <p:nvPr/>
        </p:nvSpPr>
        <p:spPr>
          <a:xfrm>
            <a:off x="762000" y="24892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MCP Server (FastMCP · stdio / HTTP)</a:t>
            </a:r>
            <a:endParaRPr lang="en-US" sz="1200" noProof="1"/>
          </a:p>
        </p:txBody>
      </p:sp>
      <p:sp>
        <p:nvSpPr>
          <p:cNvPr id="10" name="arr2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2730500" y="29972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1" name="localBand"/>
          <p:cNvSpPr/>
          <p:nvPr/>
        </p:nvSpPr>
        <p:spPr>
          <a:xfrm>
            <a:off x="508000" y="3327400"/>
            <a:ext cx="7112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12" name="localLabel"/>
          <p:cNvSpPr txBox="1"/>
          <p:nvPr/>
        </p:nvSpPr>
        <p:spPr>
          <a:xfrm>
            <a:off x="711200" y="3429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777777"/>
                </a:solidFill>
                <a:latin typeface="MiSans"/>
                <a:ea typeface="MiSans"/>
              </a:rPr>
              <a:t>Local layer (~/.memory-hub/ · shipped v0.1.0)</a:t>
            </a:r>
            <a:endParaRPr lang="en-US" sz="1100" noProof="1"/>
          </a:p>
        </p:txBody>
      </p:sp>
      <p:sp>
        <p:nvSpPr>
          <p:cNvPr id="13" name="m1"/>
          <p:cNvSpPr/>
          <p:nvPr/>
        </p:nvSpPr>
        <p:spPr>
          <a:xfrm>
            <a:off x="711200" y="3733800"/>
            <a:ext cx="157480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4" name="m1T"/>
          <p:cNvSpPr txBox="1"/>
          <p:nvPr/>
        </p:nvSpPr>
        <p:spPr>
          <a:xfrm>
            <a:off x="711200" y="3733800"/>
            <a:ext cx="157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M1 MemoryStore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file memory kernel</a:t>
            </a:r>
            <a:endParaRPr lang="en-US" sz="1100" noProof="1"/>
          </a:p>
        </p:txBody>
      </p:sp>
      <p:sp>
        <p:nvSpPr>
          <p:cNvPr id="15" name="m2"/>
          <p:cNvSpPr/>
          <p:nvPr/>
        </p:nvSpPr>
        <p:spPr>
          <a:xfrm>
            <a:off x="2438400" y="3733800"/>
            <a:ext cx="157480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6" name="m2T"/>
          <p:cNvSpPr txBox="1"/>
          <p:nvPr/>
        </p:nvSpPr>
        <p:spPr>
          <a:xfrm>
            <a:off x="2438400" y="3733800"/>
            <a:ext cx="157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M2 Provider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holographic store</a:t>
            </a:r>
            <a:endParaRPr lang="en-US" sz="1100" noProof="1"/>
          </a:p>
        </p:txBody>
      </p:sp>
      <p:sp>
        <p:nvSpPr>
          <p:cNvPr id="17" name="m3"/>
          <p:cNvSpPr/>
          <p:nvPr/>
        </p:nvSpPr>
        <p:spPr>
          <a:xfrm>
            <a:off x="4165600" y="3733800"/>
            <a:ext cx="157480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8" name="m3T"/>
          <p:cNvSpPr txBox="1"/>
          <p:nvPr/>
        </p:nvSpPr>
        <p:spPr>
          <a:xfrm>
            <a:off x="4165600" y="3733800"/>
            <a:ext cx="157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M3 Evolution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review / strategy / curator</a:t>
            </a:r>
            <a:endParaRPr lang="en-US" sz="1100" noProof="1"/>
          </a:p>
        </p:txBody>
      </p:sp>
      <p:sp>
        <p:nvSpPr>
          <p:cNvPr id="19" name="gate"/>
          <p:cNvSpPr/>
          <p:nvPr/>
        </p:nvSpPr>
        <p:spPr>
          <a:xfrm>
            <a:off x="5892800" y="3733800"/>
            <a:ext cx="1524000" cy="609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20" name="gateT"/>
          <p:cNvSpPr txBox="1"/>
          <p:nvPr/>
        </p:nvSpPr>
        <p:spPr>
          <a:xfrm>
            <a:off x="5892800" y="3733800"/>
            <a:ext cx="152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Cloud Gate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DB0011"/>
                </a:solidFill>
                <a:latin typeface="MiSans"/>
                <a:ea typeface="MiSans"/>
              </a:rPr>
              <a:t>uplink gate + TEAM.md</a:t>
            </a:r>
            <a:endParaRPr lang="en-US" sz="1100" noProof="1"/>
          </a:p>
        </p:txBody>
      </p:sp>
      <p:sp>
        <p:nvSpPr>
          <p:cNvPr id="21" name="files"/>
          <p:cNvSpPr txBox="1"/>
          <p:nvPr/>
        </p:nvSpPr>
        <p:spPr>
          <a:xfrm>
            <a:off x="711200" y="4521200"/>
            <a:ext cx="670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77777"/>
                </a:solidFill>
                <a:latin typeface="JetBrains Mono"/>
                <a:ea typeface="JetBrains Mono"/>
              </a:rPr>
              <a:t>MEMORY.md · USER.md · TEAM.md · review_queue.json · hub.db</a:t>
            </a:r>
            <a:endParaRPr lang="en-US" sz="1000" noProof="1"/>
          </a:p>
        </p:txBody>
      </p:sp>
      <p:sp>
        <p:nvSpPr>
          <p:cNvPr id="22" name="localNote"/>
          <p:cNvSpPr txBox="1"/>
          <p:nvPr/>
        </p:nvSpPr>
        <p:spPr>
          <a:xfrm>
            <a:off x="711200" y="4851400"/>
            <a:ext cx="6705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Personal memory and transcripts </a:t>
            </a:r>
            <a:r>
              <a:rPr lang="en-US" sz="1100" noProof="1" b="1">
                <a:solidFill>
                  <a:srgbClr val="777777"/>
                </a:solidFill>
                <a:latin typeface="MiSans"/>
                <a:ea typeface="MiSans"/>
              </a:rPr>
              <a:t>never leave the machine</a:t>
            </a: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cloud features default-off, per-item opt-in. Offline? </a:t>
            </a: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Local loses nothing.</a:t>
            </a:r>
            <a:endParaRPr lang="en-US" sz="1100" noProof="1"/>
          </a:p>
        </p:txBody>
      </p:sp>
      <p:sp>
        <p:nvSpPr>
          <p:cNvPr id="23" name="cloudBand"/>
          <p:cNvSpPr/>
          <p:nvPr/>
        </p:nvSpPr>
        <p:spPr>
          <a:xfrm>
            <a:off x="8001000" y="1600200"/>
            <a:ext cx="3683000" cy="4140200"/>
          </a:xfrm>
          <a:prstGeom prst="rect">
            <a:avLst/>
          </a:prstGeom>
          <a:solidFill>
            <a:srgbClr val="F5F5F5"/>
          </a:solidFill>
          <a:ln w="19050">
            <a:solidFill>
              <a:srgbClr val="DB0011"/>
            </a:solidFill>
          </a:ln>
        </p:spPr>
      </p:sp>
      <p:sp>
        <p:nvSpPr>
          <p:cNvPr id="24" name="cloudLabel"/>
          <p:cNvSpPr txBox="1"/>
          <p:nvPr/>
        </p:nvSpPr>
        <p:spPr>
          <a:xfrm>
            <a:off x="8204200" y="17018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Cloud evolution layer (optional · draft)</a:t>
            </a:r>
            <a:endParaRPr lang="en-US" sz="1100" noProof="1"/>
          </a:p>
        </p:txBody>
      </p:sp>
      <p:sp>
        <p:nvSpPr>
          <p:cNvPr id="25" name="c1"/>
          <p:cNvSpPr/>
          <p:nvPr/>
        </p:nvSpPr>
        <p:spPr>
          <a:xfrm>
            <a:off x="8204200" y="20320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26" name="c1T"/>
          <p:cNvSpPr txBox="1"/>
          <p:nvPr/>
        </p:nvSpPr>
        <p:spPr>
          <a:xfrm>
            <a:off x="8204200" y="20320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Quarantine (&lt; k sources never leaves)</a:t>
            </a:r>
            <a:endParaRPr lang="en-US" sz="1100" noProof="1"/>
          </a:p>
        </p:txBody>
      </p:sp>
      <p:sp>
        <p:nvSpPr>
          <p:cNvPr id="27" name="ca1"/>
          <p:cNvSpPr/>
          <p:nvPr>
            <p:extLst>
              <p:ext uri="{F5677B7D-0D2A-4D9B-9A5C-6D8D7D0E5A5D}">
                <pptd:line encoding="base64url">eyJ2aWV3Qm94IjpbMTAsMThdLCJwb2ludHMiOiI1LDAgNSwxOCJ9</pptd:line>
              </p:ext>
            </p:extLst>
          </p:nvPr>
        </p:nvSpPr>
        <p:spPr>
          <a:xfrm>
            <a:off x="9779000" y="2565400"/>
            <a:ext cx="127000" cy="228600"/>
          </a:xfrm>
          <a:custGeom>
            <a:avLst/>
            <a:gdLst/>
            <a:ahLst/>
            <a:cxnLst/>
            <a:rect l="l" t="t" r="r" b="b"/>
            <a:pathLst>
              <a:path w="10" h="18">
                <a:moveTo>
                  <a:pt x="5" y="0"/>
                </a:moveTo>
                <a:lnTo>
                  <a:pt x="5" y="18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28" name="c2"/>
          <p:cNvSpPr/>
          <p:nvPr/>
        </p:nvSpPr>
        <p:spPr>
          <a:xfrm>
            <a:off x="8204200" y="28448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29" name="c2T"/>
          <p:cNvSpPr txBox="1"/>
          <p:nvPr/>
        </p:nvSpPr>
        <p:spPr>
          <a:xfrm>
            <a:off x="8204200" y="28448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k-anonymity aggregation + distillation (gen ≤ 2)</a:t>
            </a:r>
            <a:endParaRPr lang="en-US" sz="1100" noProof="1"/>
          </a:p>
        </p:txBody>
      </p:sp>
      <p:sp>
        <p:nvSpPr>
          <p:cNvPr id="30" name="ca2"/>
          <p:cNvSpPr/>
          <p:nvPr>
            <p:extLst>
              <p:ext uri="{F5677B7D-0D2A-4D9B-9A5C-6D8D7D0E5A5D}">
                <pptd:line encoding="base64url">eyJ2aWV3Qm94IjpbMTAsMThdLCJwb2ludHMiOiI1LDAgNSwxOCJ9</pptd:line>
              </p:ext>
            </p:extLst>
          </p:nvPr>
        </p:nvSpPr>
        <p:spPr>
          <a:xfrm>
            <a:off x="9779000" y="3378200"/>
            <a:ext cx="127000" cy="228600"/>
          </a:xfrm>
          <a:custGeom>
            <a:avLst/>
            <a:gdLst/>
            <a:ahLst/>
            <a:cxnLst/>
            <a:rect l="l" t="t" r="r" b="b"/>
            <a:pathLst>
              <a:path w="10" h="18">
                <a:moveTo>
                  <a:pt x="5" y="0"/>
                </a:moveTo>
                <a:lnTo>
                  <a:pt x="5" y="18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31" name="c3"/>
          <p:cNvSpPr/>
          <p:nvPr/>
        </p:nvSpPr>
        <p:spPr>
          <a:xfrm>
            <a:off x="8204200" y="36576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32" name="c3T"/>
          <p:cNvSpPr txBox="1"/>
          <p:nvPr/>
        </p:nvSpPr>
        <p:spPr>
          <a:xfrm>
            <a:off x="8204200" y="36576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Team consensus store (layered · channels)</a:t>
            </a:r>
            <a:endParaRPr lang="en-US" sz="1100" noProof="1"/>
          </a:p>
        </p:txBody>
      </p:sp>
      <p:sp>
        <p:nvSpPr>
          <p:cNvPr id="33" name="ca3"/>
          <p:cNvSpPr/>
          <p:nvPr>
            <p:extLst>
              <p:ext uri="{F5677B7D-0D2A-4D9B-9A5C-6D8D7D0E5A5D}">
                <pptd:line encoding="base64url">eyJ2aWV3Qm94IjpbMTAsMThdLCJwb2ludHMiOiI1LDAgNSwxOCJ9</pptd:line>
              </p:ext>
            </p:extLst>
          </p:nvPr>
        </p:nvSpPr>
        <p:spPr>
          <a:xfrm>
            <a:off x="9779000" y="4191000"/>
            <a:ext cx="127000" cy="228600"/>
          </a:xfrm>
          <a:custGeom>
            <a:avLst/>
            <a:gdLst/>
            <a:ahLst/>
            <a:cxnLst/>
            <a:rect l="l" t="t" r="r" b="b"/>
            <a:pathLst>
              <a:path w="10" h="18">
                <a:moveTo>
                  <a:pt x="5" y="0"/>
                </a:moveTo>
                <a:lnTo>
                  <a:pt x="5" y="18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34" name="c4"/>
          <p:cNvSpPr/>
          <p:nvPr/>
        </p:nvSpPr>
        <p:spPr>
          <a:xfrm>
            <a:off x="8204200" y="44704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35" name="c4T"/>
          <p:cNvSpPr txBox="1"/>
          <p:nvPr/>
        </p:nvSpPr>
        <p:spPr>
          <a:xfrm>
            <a:off x="8204200" y="44704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Natural selection (TTL · counter-evidence)</a:t>
            </a:r>
            <a:endParaRPr lang="en-US" sz="1100" noProof="1"/>
          </a:p>
        </p:txBody>
      </p:sp>
      <p:sp>
        <p:nvSpPr>
          <p:cNvPr id="36" name="cloudDefense"/>
          <p:cNvSpPr txBox="1"/>
          <p:nvPr/>
        </p:nvSpPr>
        <p:spPr>
          <a:xfrm>
            <a:off x="8204200" y="5130800"/>
            <a:ext cx="3276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Defense: reputation weighting · Sybil detection · canary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Distribution: channels · signed deltas · on-demand pull</a:t>
            </a:r>
            <a:endParaRPr lang="en-US" sz="1000" noProof="1"/>
          </a:p>
        </p:txBody>
      </p:sp>
      <p:sp>
        <p:nvSpPr>
          <p:cNvPr id="37" name="upArrow"/>
          <p:cNvSpPr/>
          <p:nvPr>
            <p:extLst>
              <p:ext uri="{F5677B7D-0D2A-4D9B-9A5C-6D8D7D0E5A5D}">
                <pptd:line encoding="base64url">eyJ2aWV3Qm94IjpbMjgsMTBdLCJwb2ludHMiOiIwLDUgMjgsNSJ9</pptd:line>
              </p:ext>
            </p:extLst>
          </p:nvPr>
        </p:nvSpPr>
        <p:spPr>
          <a:xfrm>
            <a:off x="7620000" y="3810000"/>
            <a:ext cx="355600" cy="127000"/>
          </a:xfrm>
          <a:custGeom>
            <a:avLst/>
            <a:gdLst/>
            <a:ahLst/>
            <a:cxnLst/>
            <a:rect l="l" t="t" r="r" b="b"/>
            <a:pathLst>
              <a:path w="28" h="10">
                <a:moveTo>
                  <a:pt x="0" y="5"/>
                </a:moveTo>
                <a:lnTo>
                  <a:pt x="28" y="5"/>
                </a:lnTo>
              </a:path>
            </a:pathLst>
          </a:custGeom>
          <a:noFill/>
          <a:ln w="25400" cap="rnd">
            <a:solidFill>
              <a:srgbClr val="DB0011"/>
            </a:solidFill>
            <a:round/>
            <a:tailEnd type="arrow"/>
          </a:ln>
        </p:spPr>
      </p:sp>
      <p:sp>
        <p:nvSpPr>
          <p:cNvPr id="38" name="upLabel"/>
          <p:cNvSpPr txBox="1"/>
          <p:nvPr/>
        </p:nvSpPr>
        <p:spPr>
          <a:xfrm>
            <a:off x="5664200" y="3581400"/>
            <a:ext cx="182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DB0011"/>
                </a:solidFill>
                <a:latin typeface="MiSans"/>
                <a:ea typeface="MiSans"/>
              </a:rPr>
              <a:t>uplink: whitelist + approval</a:t>
            </a:r>
            <a:endParaRPr lang="en-US" sz="900" noProof="1"/>
          </a:p>
        </p:txBody>
      </p:sp>
      <p:sp>
        <p:nvSpPr>
          <p:cNvPr id="39" name="downArrow"/>
          <p:cNvSpPr/>
          <p:nvPr>
            <p:extLst>
              <p:ext uri="{F5677B7D-0D2A-4D9B-9A5C-6D8D7D0E5A5D}">
                <pptd:line encoding="base64url">eyJ2aWV3Qm94IjpbMjgsMTBdLCJwb2ludHMiOiIyOCw1IDAsNSJ9</pptd:line>
              </p:ext>
            </p:extLst>
          </p:nvPr>
        </p:nvSpPr>
        <p:spPr>
          <a:xfrm>
            <a:off x="7620000" y="4318000"/>
            <a:ext cx="355600" cy="127000"/>
          </a:xfrm>
          <a:custGeom>
            <a:avLst/>
            <a:gdLst/>
            <a:ahLst/>
            <a:cxnLst/>
            <a:rect l="l" t="t" r="r" b="b"/>
            <a:pathLst>
              <a:path w="28" h="10">
                <a:moveTo>
                  <a:pt x="28" y="5"/>
                </a:moveTo>
                <a:lnTo>
                  <a:pt x="0" y="5"/>
                </a:lnTo>
              </a:path>
            </a:pathLst>
          </a:custGeom>
          <a:noFill/>
          <a:ln w="25400" cap="rnd">
            <a:solidFill>
              <a:srgbClr val="777777"/>
            </a:solidFill>
            <a:round/>
            <a:tailEnd type="arrow"/>
          </a:ln>
        </p:spPr>
      </p:sp>
      <p:sp>
        <p:nvSpPr>
          <p:cNvPr id="40" name="downLabel"/>
          <p:cNvSpPr txBox="1"/>
          <p:nvPr/>
        </p:nvSpPr>
        <p:spPr>
          <a:xfrm>
            <a:off x="5588000" y="45212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downlink: signed delta + approval</a:t>
            </a:r>
            <a:endParaRPr lang="en-US" sz="900" noProof="1"/>
          </a:p>
        </p:txBody>
      </p:sp>
      <p:sp>
        <p:nvSpPr>
          <p:cNvPr id="41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42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43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04 / 15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04 · CORE MODULE 1/2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File Memory Kernel: Dual State Protects the Cache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nap"/>
          <p:cNvSpPr/>
          <p:nvPr/>
        </p:nvSpPr>
        <p:spPr>
          <a:xfrm>
            <a:off x="762000" y="1778000"/>
            <a:ext cx="3302000" cy="1168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snapT"/>
          <p:cNvSpPr txBox="1"/>
          <p:nvPr/>
        </p:nvSpPr>
        <p:spPr>
          <a:xfrm>
            <a:off x="965200" y="1930400"/>
            <a:ext cx="2921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Snapshot state (frozen)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Built from disk at session start, injected into the system prompt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Never changes mid-session → stable prefix cache</a:t>
            </a:r>
            <a:endParaRPr lang="en-US" sz="1200" noProof="1"/>
          </a:p>
        </p:txBody>
      </p:sp>
      <p:sp>
        <p:nvSpPr>
          <p:cNvPr id="7" name="live"/>
          <p:cNvSpPr/>
          <p:nvPr/>
        </p:nvSpPr>
        <p:spPr>
          <a:xfrm>
            <a:off x="762000" y="3327400"/>
            <a:ext cx="3302000" cy="116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8" name="liveT"/>
          <p:cNvSpPr txBox="1"/>
          <p:nvPr/>
        </p:nvSpPr>
        <p:spPr>
          <a:xfrm>
            <a:off x="965200" y="3479800"/>
            <a:ext cx="2921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Live state (writable)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add / replace / remove / batch touch only live state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Write path: lock → drift check → budget → atomic write</a:t>
            </a:r>
            <a:endParaRPr lang="en-US" sz="1200" noProof="1"/>
          </a:p>
        </p:txBody>
      </p:sp>
      <p:sp>
        <p:nvSpPr>
          <p:cNvPr id="9" name="arrowSL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2349500" y="29972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0" name="arrowLbl"/>
          <p:cNvSpPr txBox="1"/>
          <p:nvPr/>
        </p:nvSpPr>
        <p:spPr>
          <a:xfrm>
            <a:off x="2540000" y="30226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writes enter live state only</a:t>
            </a:r>
            <a:endParaRPr lang="en-US" sz="1000" noProof="1"/>
          </a:p>
        </p:txBody>
      </p:sp>
      <p:sp>
        <p:nvSpPr>
          <p:cNvPr id="11" name="divV"/>
          <p:cNvSpPr/>
          <p:nvPr/>
        </p:nvSpPr>
        <p:spPr>
          <a:xfrm>
            <a:off x="4826000" y="1778000"/>
            <a:ext cx="12700" cy="381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2" name="stat1"/>
          <p:cNvSpPr txBox="1"/>
          <p:nvPr/>
        </p:nvSpPr>
        <p:spPr>
          <a:xfrm>
            <a:off x="5334000" y="18542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JetBrains Mono"/>
                <a:ea typeface="JetBrains Mono"/>
              </a:rPr>
              <a:t>2200 / 1375</a:t>
            </a:r>
            <a:endParaRPr lang="en-US" sz="3000" noProof="1"/>
          </a:p>
        </p:txBody>
      </p:sp>
      <p:sp>
        <p:nvSpPr>
          <p:cNvPr id="13" name="stat1d"/>
          <p:cNvSpPr txBox="1"/>
          <p:nvPr/>
        </p:nvSpPr>
        <p:spPr>
          <a:xfrm>
            <a:off x="5334000" y="24130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Char budgets (MEMORY / USER): chars, not tokens — model-agnostic</a:t>
            </a:r>
            <a:endParaRPr lang="en-US" sz="1300" noProof="1"/>
          </a:p>
        </p:txBody>
      </p:sp>
      <p:sp>
        <p:nvSpPr>
          <p:cNvPr id="14" name="stat2"/>
          <p:cNvSpPr txBox="1"/>
          <p:nvPr/>
        </p:nvSpPr>
        <p:spPr>
          <a:xfrm>
            <a:off x="5334000" y="31242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MiSans"/>
                <a:ea typeface="MiSans"/>
              </a:rPr>
              <a:t>Triple protection</a:t>
            </a:r>
            <a:endParaRPr lang="en-US" sz="3000" noProof="1"/>
          </a:p>
        </p:txBody>
      </p:sp>
      <p:sp>
        <p:nvSpPr>
          <p:cNvPr id="15" name="stat2d"/>
          <p:cNvSpPr txBox="1"/>
          <p:nvPr/>
        </p:nvSpPr>
        <p:spPr>
          <a:xfrm>
            <a:off x="5334000" y="36830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Atomic writes + file locks + drift detection against loss and silent tampering</a:t>
            </a:r>
            <a:endParaRPr lang="en-US" sz="1300" noProof="1"/>
          </a:p>
        </p:txBody>
      </p:sp>
      <p:sp>
        <p:nvSpPr>
          <p:cNvPr id="16" name="stat3"/>
          <p:cNvSpPr txBox="1"/>
          <p:nvPr/>
        </p:nvSpPr>
        <p:spPr>
          <a:xfrm>
            <a:off x="5334000" y="43942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JetBrains Mono"/>
                <a:ea typeface="JetBrains Mono"/>
              </a:rPr>
              <a:t>.md</a:t>
            </a:r>
            <a:endParaRPr lang="en-US" sz="3000" noProof="1"/>
          </a:p>
        </p:txBody>
      </p:sp>
      <p:sp>
        <p:nvSpPr>
          <p:cNvPr id="17" name="stat3d"/>
          <p:cNvSpPr txBox="1"/>
          <p:nvPr/>
        </p:nvSpPr>
        <p:spPr>
          <a:xfrm>
            <a:off x="5334000" y="49530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Primary memory is Markdown: humans can read, edit, and git-version it</a:t>
            </a:r>
            <a:endParaRPr lang="en-US" sz="1300" noProof="1"/>
          </a:p>
        </p:txBody>
      </p:sp>
      <p:sp>
        <p:nvSpPr>
          <p:cNvPr id="18" name="conclusion"/>
          <p:cNvSpPr txBox="1"/>
          <p:nvPr/>
        </p:nvSpPr>
        <p:spPr>
          <a:xfrm>
            <a:off x="762000" y="5740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DB0011"/>
                </a:solidFill>
                <a:latin typeface="MiSans"/>
                <a:ea typeface="MiSans"/>
              </a:rPr>
              <a:t>The tradeoff is explicit: mid-session freshness yields to cache stability</a:t>
            </a:r>
            <a:endParaRPr lang="en-US" sz="1500" noProof="1"/>
          </a:p>
        </p:txBody>
      </p:sp>
      <p:sp>
        <p:nvSpPr>
          <p:cNvPr id="19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0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21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05 / 15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04 · CORE MODULE 2/2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Evolution Loop: The LLM Drafts, the User Decides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rc1"/>
          <p:cNvSpPr/>
          <p:nvPr/>
        </p:nvSpPr>
        <p:spPr>
          <a:xfrm>
            <a:off x="762000" y="1905000"/>
            <a:ext cx="1905000" cy="254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src1T"/>
          <p:cNvSpPr txBox="1"/>
          <p:nvPr/>
        </p:nvSpPr>
        <p:spPr>
          <a:xfrm>
            <a:off x="914400" y="2057400"/>
            <a:ext cx="16002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Input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Session transcripts (*.jsonl)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Daily files + watermark offsets: no skipped or duplicate review</a:t>
            </a:r>
            <a:endParaRPr lang="en-US" sz="1200" noProof="1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eyJ2aWV3Qm94IjpbMjQsMTBdLCJwb2ludHMiOiIwLDUgMjQsNSJ9</pptd:line>
              </p:ext>
            </p:extLst>
          </p:nvPr>
        </p:nvSpPr>
        <p:spPr>
          <a:xfrm>
            <a:off x="2743200" y="3098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stage1"/>
          <p:cNvSpPr/>
          <p:nvPr/>
        </p:nvSpPr>
        <p:spPr>
          <a:xfrm>
            <a:off x="3124200" y="1651000"/>
            <a:ext cx="2413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9" name="stage1T"/>
          <p:cNvSpPr txBox="1"/>
          <p:nvPr/>
        </p:nvSpPr>
        <p:spPr>
          <a:xfrm>
            <a:off x="3276600" y="1778000"/>
            <a:ext cx="2108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review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draft memory edits from fresh turns</a:t>
            </a:r>
            <a:endParaRPr lang="en-US" sz="1200" noProof="1"/>
          </a:p>
        </p:txBody>
      </p:sp>
      <p:sp>
        <p:nvSpPr>
          <p:cNvPr id="10" name="stage2"/>
          <p:cNvSpPr/>
          <p:nvPr/>
        </p:nvSpPr>
        <p:spPr>
          <a:xfrm>
            <a:off x="3124200" y="2743200"/>
            <a:ext cx="2413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1" name="stage2T"/>
          <p:cNvSpPr txBox="1"/>
          <p:nvPr/>
        </p:nvSpPr>
        <p:spPr>
          <a:xfrm>
            <a:off x="3276600" y="2870200"/>
            <a:ext cx="2108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strategy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patterns seen 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≥2 times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 get fixed</a:t>
            </a:r>
            <a:endParaRPr lang="en-US" sz="1200" noProof="1"/>
          </a:p>
        </p:txBody>
      </p:sp>
      <p:sp>
        <p:nvSpPr>
          <p:cNvPr id="12" name="stage3"/>
          <p:cNvSpPr/>
          <p:nvPr/>
        </p:nvSpPr>
        <p:spPr>
          <a:xfrm>
            <a:off x="3124200" y="3835400"/>
            <a:ext cx="2413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3" name="stage3T"/>
          <p:cNvSpPr txBox="1"/>
          <p:nvPr/>
        </p:nvSpPr>
        <p:spPr>
          <a:xfrm>
            <a:off x="3276600" y="3962400"/>
            <a:ext cx="2108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curator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merge near-dups (similarity 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≥0.8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)</a:t>
            </a:r>
            <a:endParaRPr lang="en-US" sz="1200" noProof="1"/>
          </a:p>
        </p:txBody>
      </p:sp>
      <p:sp>
        <p:nvSpPr>
          <p:cNvPr id="14" name="a2"/>
          <p:cNvSpPr/>
          <p:nvPr>
            <p:extLst>
              <p:ext uri="{F5677B7D-0D2A-4D9B-9A5C-6D8D7D0E5A5D}">
                <pptd:line encoding="base64url">eyJ2aWV3Qm94IjpbMjQsMTBdLCJwb2ludHMiOiIwLDUgMjQsNSJ9</pptd:line>
              </p:ext>
            </p:extLst>
          </p:nvPr>
        </p:nvSpPr>
        <p:spPr>
          <a:xfrm>
            <a:off x="5613400" y="3098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15" name="queue"/>
          <p:cNvSpPr/>
          <p:nvPr/>
        </p:nvSpPr>
        <p:spPr>
          <a:xfrm>
            <a:off x="5994400" y="2489200"/>
            <a:ext cx="2286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16" name="queueT"/>
          <p:cNvSpPr txBox="1"/>
          <p:nvPr/>
        </p:nvSpPr>
        <p:spPr>
          <a:xfrm>
            <a:off x="6146800" y="2641600"/>
            <a:ext cx="19812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review_queue.json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unified approval queue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proposals staged, never auto-applied</a:t>
            </a:r>
            <a:endParaRPr lang="en-US" sz="1200" noProof="1"/>
          </a:p>
        </p:txBody>
      </p:sp>
      <p:sp>
        <p:nvSpPr>
          <p:cNvPr id="17" name="a3"/>
          <p:cNvSpPr/>
          <p:nvPr>
            <p:extLst>
              <p:ext uri="{F5677B7D-0D2A-4D9B-9A5C-6D8D7D0E5A5D}">
                <pptd:line encoding="base64url">eyJ2aWV3Qm94IjpbMjQsMTBdLCJwb2ludHMiOiIwLDUgMjQsNSJ9</pptd:line>
              </p:ext>
            </p:extLst>
          </p:nvPr>
        </p:nvSpPr>
        <p:spPr>
          <a:xfrm>
            <a:off x="8356600" y="3098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8" name="approve"/>
          <p:cNvSpPr/>
          <p:nvPr/>
        </p:nvSpPr>
        <p:spPr>
          <a:xfrm>
            <a:off x="8737600" y="1905000"/>
            <a:ext cx="2692400" cy="1168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9" name="approveT"/>
          <p:cNvSpPr txBox="1"/>
          <p:nvPr/>
        </p:nvSpPr>
        <p:spPr>
          <a:xfrm>
            <a:off x="8890000" y="2032000"/>
            <a:ext cx="238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User approval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approve / reject item by item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archive = backup first, delete second</a:t>
            </a:r>
            <a:endParaRPr lang="en-US" sz="1200" noProof="1"/>
          </a:p>
        </p:txBody>
      </p:sp>
      <p:sp>
        <p:nvSpPr>
          <p:cNvPr id="20" name="apply"/>
          <p:cNvSpPr/>
          <p:nvPr/>
        </p:nvSpPr>
        <p:spPr>
          <a:xfrm>
            <a:off x="8737600" y="3327400"/>
            <a:ext cx="26924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21" name="applyT"/>
          <p:cNvSpPr txBox="1"/>
          <p:nvPr/>
        </p:nvSpPr>
        <p:spPr>
          <a:xfrm>
            <a:off x="8890000" y="3454400"/>
            <a:ext cx="2387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Replay after approval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failures stay queued, retryable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LLM faults never advance watermarks</a:t>
            </a:r>
            <a:endParaRPr lang="en-US" sz="1200" noProof="1"/>
          </a:p>
        </p:txBody>
      </p:sp>
      <p:sp>
        <p:nvSpPr>
          <p:cNvPr id="22" name="conclusion"/>
          <p:cNvSpPr txBox="1"/>
          <p:nvPr/>
        </p:nvSpPr>
        <p:spPr>
          <a:xfrm>
            <a:off x="762000" y="5334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DB0011"/>
                </a:solidFill>
                <a:latin typeface="MiSans"/>
                <a:ea typeface="MiSans"/>
              </a:rPr>
              <a:t>Stance: the LLM is an intern who suggests — not an admin with write access</a:t>
            </a:r>
            <a:endParaRPr lang="en-US" sz="1600" noProof="1"/>
          </a:p>
        </p:txBody>
      </p:sp>
      <p:sp>
        <p:nvSpPr>
          <p:cNvPr id="23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4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25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06 / 15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KEY MECHANISM 1/4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End-to-End Lifecycle of a Memory Entry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b1"/>
          <p:cNvSpPr/>
          <p:nvPr/>
        </p:nvSpPr>
        <p:spPr>
          <a:xfrm>
            <a:off x="508000" y="2413000"/>
            <a:ext cx="1778000" cy="812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b1T"/>
          <p:cNvSpPr txBox="1"/>
          <p:nvPr/>
        </p:nvSpPr>
        <p:spPr>
          <a:xfrm>
            <a:off x="5080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Personal memory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MEMORY / USER</a:t>
            </a:r>
            <a:endParaRPr lang="en-US" sz="1200" noProof="1"/>
          </a:p>
        </p:txBody>
      </p:sp>
      <p:sp>
        <p:nvSpPr>
          <p:cNvPr id="7" name="ar1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23368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ar1L"/>
          <p:cNvSpPr txBox="1"/>
          <p:nvPr/>
        </p:nvSpPr>
        <p:spPr>
          <a:xfrm>
            <a:off x="2006600" y="21336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whitelist + approval</a:t>
            </a:r>
            <a:endParaRPr lang="en-US" sz="900" noProof="1"/>
          </a:p>
        </p:txBody>
      </p:sp>
      <p:sp>
        <p:nvSpPr>
          <p:cNvPr id="9" name="b2"/>
          <p:cNvSpPr/>
          <p:nvPr/>
        </p:nvSpPr>
        <p:spPr>
          <a:xfrm>
            <a:off x="2844800" y="2413000"/>
            <a:ext cx="1778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0" name="b2T"/>
          <p:cNvSpPr txBox="1"/>
          <p:nvPr/>
        </p:nvSpPr>
        <p:spPr>
          <a:xfrm>
            <a:off x="28448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Uplink entry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structured whitelist</a:t>
            </a:r>
            <a:endParaRPr lang="en-US" sz="1200" noProof="1"/>
          </a:p>
        </p:txBody>
      </p:sp>
      <p:sp>
        <p:nvSpPr>
          <p:cNvPr id="11" name="ar2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46736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2" name="ar2L"/>
          <p:cNvSpPr txBox="1"/>
          <p:nvPr/>
        </p:nvSpPr>
        <p:spPr>
          <a:xfrm>
            <a:off x="4368800" y="2133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semantic clustering</a:t>
            </a:r>
            <a:endParaRPr lang="en-US" sz="900" noProof="1"/>
          </a:p>
        </p:txBody>
      </p:sp>
      <p:sp>
        <p:nvSpPr>
          <p:cNvPr id="13" name="b3"/>
          <p:cNvSpPr/>
          <p:nvPr/>
        </p:nvSpPr>
        <p:spPr>
          <a:xfrm>
            <a:off x="5181600" y="2413000"/>
            <a:ext cx="17780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14" name="b3T"/>
          <p:cNvSpPr txBox="1"/>
          <p:nvPr/>
        </p:nvSpPr>
        <p:spPr>
          <a:xfrm>
            <a:off x="51816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Quarantine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DB0011"/>
                </a:solidFill>
                <a:latin typeface="MiSans"/>
                <a:ea typeface="MiSans"/>
              </a:rPr>
              <a:t>&lt; k: never leaves</a:t>
            </a:r>
            <a:endParaRPr lang="en-US" sz="1200" noProof="1"/>
          </a:p>
        </p:txBody>
      </p:sp>
      <p:sp>
        <p:nvSpPr>
          <p:cNvPr id="15" name="ar3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70104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25400" cap="rnd">
            <a:solidFill>
              <a:srgbClr val="DB0011"/>
            </a:solidFill>
            <a:round/>
            <a:tailEnd type="arrow"/>
          </a:ln>
        </p:spPr>
      </p:sp>
      <p:sp>
        <p:nvSpPr>
          <p:cNvPr id="16" name="ar3L"/>
          <p:cNvSpPr txBox="1"/>
          <p:nvPr/>
        </p:nvSpPr>
        <p:spPr>
          <a:xfrm>
            <a:off x="6731000" y="21336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DB0011"/>
                </a:solidFill>
                <a:latin typeface="MiSans"/>
                <a:ea typeface="MiSans"/>
              </a:rPr>
              <a:t>independent sources ≥ k</a:t>
            </a:r>
            <a:endParaRPr lang="en-US" sz="900" noProof="1"/>
          </a:p>
        </p:txBody>
      </p:sp>
      <p:sp>
        <p:nvSpPr>
          <p:cNvPr id="17" name="b4"/>
          <p:cNvSpPr/>
          <p:nvPr/>
        </p:nvSpPr>
        <p:spPr>
          <a:xfrm>
            <a:off x="7518400" y="2413000"/>
            <a:ext cx="1778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8" name="b4T"/>
          <p:cNvSpPr txBox="1"/>
          <p:nvPr/>
        </p:nvSpPr>
        <p:spPr>
          <a:xfrm>
            <a:off x="75184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Candidate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condition-intersection check</a:t>
            </a:r>
            <a:endParaRPr lang="en-US" sz="1200" noProof="1"/>
          </a:p>
        </p:txBody>
      </p:sp>
      <p:sp>
        <p:nvSpPr>
          <p:cNvPr id="19" name="ar4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93472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20" name="ar4L"/>
          <p:cNvSpPr txBox="1"/>
          <p:nvPr/>
        </p:nvSpPr>
        <p:spPr>
          <a:xfrm>
            <a:off x="9194800" y="2133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observation N days</a:t>
            </a:r>
            <a:endParaRPr lang="en-US" sz="900" noProof="1"/>
          </a:p>
        </p:txBody>
      </p:sp>
      <p:sp>
        <p:nvSpPr>
          <p:cNvPr id="21" name="b5"/>
          <p:cNvSpPr/>
          <p:nvPr/>
        </p:nvSpPr>
        <p:spPr>
          <a:xfrm>
            <a:off x="9855200" y="2413000"/>
            <a:ext cx="1828800" cy="812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22" name="b5T"/>
          <p:cNvSpPr txBox="1"/>
          <p:nvPr/>
        </p:nvSpPr>
        <p:spPr>
          <a:xfrm>
            <a:off x="9855200" y="2413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Active consensus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channel push / pull</a:t>
            </a:r>
            <a:endParaRPr lang="en-US" sz="1200" noProof="1"/>
          </a:p>
        </p:txBody>
      </p:sp>
      <p:sp>
        <p:nvSpPr>
          <p:cNvPr id="23" name="arDown"/>
          <p:cNvSpPr/>
          <p:nvPr>
            <p:extLst>
              <p:ext uri="{F5677B7D-0D2A-4D9B-9A5C-6D8D7D0E5A5D}">
                <pptd:line encoding="base64url">eyJ2aWV3Qm94IjpbMTAsNDBdLCJwb2ludHMiOiI1LDAgNSw0MCJ9</pptd:line>
              </p:ext>
            </p:extLst>
          </p:nvPr>
        </p:nvSpPr>
        <p:spPr>
          <a:xfrm>
            <a:off x="10706100" y="3302000"/>
            <a:ext cx="127000" cy="508000"/>
          </a:xfrm>
          <a:custGeom>
            <a:avLst/>
            <a:gdLst/>
            <a:ahLst/>
            <a:cxnLst/>
            <a:rect l="l" t="t" r="r" b="b"/>
            <a:pathLst>
              <a:path w="10" h="40">
                <a:moveTo>
                  <a:pt x="5" y="0"/>
                </a:moveTo>
                <a:lnTo>
                  <a:pt x="5" y="40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24" name="b6"/>
          <p:cNvSpPr/>
          <p:nvPr/>
        </p:nvSpPr>
        <p:spPr>
          <a:xfrm>
            <a:off x="9855200" y="3886200"/>
            <a:ext cx="1828800" cy="711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25" name="b6T"/>
          <p:cNvSpPr txBox="1"/>
          <p:nvPr/>
        </p:nvSpPr>
        <p:spPr>
          <a:xfrm>
            <a:off x="9855200" y="3886200"/>
            <a:ext cx="182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Degrade / archive</a:t>
            </a:r>
            <a:endParaRPr lang="en-US" sz="1100" noProof="1"/>
          </a:p>
          <a:p>
            <a:pPr algn="ctr">
              <a:lnSpc>
                <a:spcPct val="135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TTL, no fresh sightings</a:t>
            </a:r>
            <a:endParaRPr lang="en-US" sz="1100" noProof="1"/>
          </a:p>
        </p:txBody>
      </p:sp>
      <p:sp>
        <p:nvSpPr>
          <p:cNvPr id="26" name="forkLine"/>
          <p:cNvSpPr/>
          <p:nvPr>
            <p:extLst>
              <p:ext uri="{F5677B7D-0D2A-4D9B-9A5C-6D8D7D0E5A5D}">
                <pptd:line encoding="base64url">eyJ2aWV3Qm94IjpbMjEwLDY2XSwicG9pbnRzIjoiMjEwLDAgMTA1LDQwIDAsNjYiLCJjdXJ2ZSI6InNtb290aCJ9</pptd:line>
              </p:ext>
            </p:extLst>
          </p:nvPr>
        </p:nvSpPr>
        <p:spPr>
          <a:xfrm>
            <a:off x="7112000" y="3403600"/>
            <a:ext cx="2667000" cy="838200"/>
          </a:xfrm>
          <a:custGeom>
            <a:avLst/>
            <a:gdLst/>
            <a:ahLst/>
            <a:cxnLst/>
            <a:rect l="l" t="t" r="r" b="b"/>
            <a:pathLst>
              <a:path w="210" h="66">
                <a:moveTo>
                  <a:pt x="210" y="0"/>
                </a:moveTo>
                <a:quadBezTo>
                  <a:pt x="105" y="40"/>
                  <a:pt x="0" y="66"/>
                </a:quadBezTo>
              </a:path>
            </a:pathLst>
          </a:custGeom>
          <a:noFill/>
          <a:ln w="19050" cap="rnd">
            <a:solidFill>
              <a:srgbClr val="DB0011"/>
            </a:solidFill>
            <a:prstDash val="dash"/>
            <a:round/>
            <a:tailEnd type="arrow"/>
          </a:ln>
        </p:spPr>
      </p:sp>
      <p:sp>
        <p:nvSpPr>
          <p:cNvPr id="27" name="b7"/>
          <p:cNvSpPr/>
          <p:nvPr/>
        </p:nvSpPr>
        <p:spPr>
          <a:xfrm>
            <a:off x="5181600" y="4241800"/>
            <a:ext cx="2413000" cy="711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  <a:prstDash val="dash"/>
          </a:ln>
        </p:spPr>
      </p:sp>
      <p:sp>
        <p:nvSpPr>
          <p:cNvPr id="28" name="b7T"/>
          <p:cNvSpPr txBox="1"/>
          <p:nvPr/>
        </p:nvSpPr>
        <p:spPr>
          <a:xfrm>
            <a:off x="5181600" y="42418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Counter-evidence &gt; 30% → fork</a:t>
            </a:r>
            <a:endParaRPr lang="en-US" sz="1100" noProof="1"/>
          </a:p>
          <a:p>
            <a:pPr algn="ctr">
              <a:lnSpc>
                <a:spcPct val="135000"/>
              </a:lnSpc>
            </a:pPr>
            <a:r>
              <a:rPr lang="en-US" sz="1100" noProof="1">
                <a:solidFill>
                  <a:srgbClr val="DB0011"/>
                </a:solidFill>
                <a:latin typeface="MiSans"/>
                <a:ea typeface="MiSans"/>
              </a:rPr>
              <a:t>two context-scoped entries coexist</a:t>
            </a:r>
            <a:endParaRPr lang="en-US" sz="1100" noProof="1"/>
          </a:p>
        </p:txBody>
      </p:sp>
      <p:sp>
        <p:nvSpPr>
          <p:cNvPr id="29" name="mech"/>
          <p:cNvSpPr txBox="1"/>
          <p:nvPr/>
        </p:nvSpPr>
        <p:spPr>
          <a:xfrm>
            <a:off x="762000" y="5384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333333"/>
                </a:solidFill>
                <a:latin typeface="MiSans"/>
                <a:ea typeface="MiSans"/>
              </a:rPr>
              <a:t>Every transition is a mechanical criterion: counts, thresholds, TTL — never AI goodwill</a:t>
            </a:r>
            <a:endParaRPr lang="en-US" sz="1500" noProof="1"/>
          </a:p>
        </p:txBody>
      </p:sp>
      <p:sp>
        <p:nvSpPr>
          <p:cNvPr id="30" name="mech2"/>
          <p:cNvSpPr txBox="1"/>
          <p:nvPr/>
        </p:nvSpPr>
        <p:spPr>
          <a:xfrm>
            <a:off x="762000" y="57404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Evolution needs death: archive, not delete; gen-2 entries expire instead of being re-distilled</a:t>
            </a:r>
            <a:endParaRPr lang="en-US" sz="1200" noProof="1"/>
          </a:p>
        </p:txBody>
      </p:sp>
      <p:sp>
        <p:nvSpPr>
          <p:cNvPr id="31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32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33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07 / 15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KEY MECHANISM 2/4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Seven Uplink Steps — the Whitelist Is the Wall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p1"/>
          <p:cNvSpPr txBox="1"/>
          <p:nvPr/>
        </p:nvSpPr>
        <p:spPr>
          <a:xfrm>
            <a:off x="762000" y="1651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01</a:t>
            </a:r>
            <a:endParaRPr lang="en-US" sz="1500" noProof="1"/>
          </a:p>
        </p:txBody>
      </p:sp>
      <p:sp>
        <p:nvSpPr>
          <p:cNvPr id="6" name="p1t"/>
          <p:cNvSpPr txBox="1"/>
          <p:nvPr/>
        </p:nvSpPr>
        <p:spPr>
          <a:xfrm>
            <a:off x="1320800" y="1651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Candidate discovery: scan local memory for whitelist types (offline)</a:t>
            </a:r>
            <a:endParaRPr lang="en-US" sz="1400" noProof="1"/>
          </a:p>
        </p:txBody>
      </p:sp>
      <p:sp>
        <p:nvSpPr>
          <p:cNvPr id="7" name="p2"/>
          <p:cNvSpPr txBox="1"/>
          <p:nvPr/>
        </p:nvSpPr>
        <p:spPr>
          <a:xfrm>
            <a:off x="762000" y="2235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DB0011"/>
                </a:solidFill>
                <a:latin typeface="JetBrains Mono"/>
                <a:ea typeface="JetBrains Mono"/>
              </a:rPr>
              <a:t>02</a:t>
            </a:r>
            <a:endParaRPr lang="en-US" sz="1500" noProof="1"/>
          </a:p>
        </p:txBody>
      </p:sp>
      <p:sp>
        <p:nvSpPr>
          <p:cNvPr id="8" name="p2t"/>
          <p:cNvSpPr txBox="1"/>
          <p:nvPr/>
        </p:nvSpPr>
        <p:spPr>
          <a:xfrm>
            <a:off x="1320800" y="22352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Schema validation: what can't fit the schema cannot be shared</a:t>
            </a:r>
            <a:r>
              <a:rPr lang="en-US" sz="1400" noProof="1">
                <a:solidFill>
                  <a:srgbClr val="DB0011"/>
                </a:solidFill>
                <a:latin typeface="MiSans"/>
                <a:ea typeface="MiSans"/>
              </a:rPr>
              <a:t>　← main wall</a:t>
            </a:r>
            <a:endParaRPr lang="en-US" sz="1400" noProof="1"/>
          </a:p>
        </p:txBody>
      </p:sp>
      <p:sp>
        <p:nvSpPr>
          <p:cNvPr id="9" name="p3"/>
          <p:cNvSpPr txBox="1"/>
          <p:nvPr/>
        </p:nvSpPr>
        <p:spPr>
          <a:xfrm>
            <a:off x="762000" y="28194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03</a:t>
            </a:r>
            <a:endParaRPr lang="en-US" sz="1500" noProof="1"/>
          </a:p>
        </p:txBody>
      </p:sp>
      <p:sp>
        <p:nvSpPr>
          <p:cNvPr id="10" name="p3t"/>
          <p:cNvSpPr txBox="1"/>
          <p:nvPr/>
        </p:nvSpPr>
        <p:spPr>
          <a:xfrm>
            <a:off x="1320800" y="28194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Exfiltration scan: strict threat patterns (reused from local core)</a:t>
            </a:r>
            <a:endParaRPr lang="en-US" sz="1400" noProof="1"/>
          </a:p>
        </p:txBody>
      </p:sp>
      <p:sp>
        <p:nvSpPr>
          <p:cNvPr id="11" name="p4"/>
          <p:cNvSpPr txBox="1"/>
          <p:nvPr/>
        </p:nvSpPr>
        <p:spPr>
          <a:xfrm>
            <a:off x="762000" y="34036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04</a:t>
            </a:r>
            <a:endParaRPr lang="en-US" sz="1500" noProof="1"/>
          </a:p>
        </p:txBody>
      </p:sp>
      <p:sp>
        <p:nvSpPr>
          <p:cNvPr id="12" name="p4t"/>
          <p:cNvSpPr txBox="1"/>
          <p:nvPr/>
        </p:nvSpPr>
        <p:spPr>
          <a:xfrm>
            <a:off x="1320800" y="34036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Aggregate-risk check: against the mosaic effect (multi-item re-identification)</a:t>
            </a:r>
            <a:endParaRPr lang="en-US" sz="1400" noProof="1"/>
          </a:p>
        </p:txBody>
      </p:sp>
      <p:sp>
        <p:nvSpPr>
          <p:cNvPr id="13" name="p5"/>
          <p:cNvSpPr txBox="1"/>
          <p:nvPr/>
        </p:nvSpPr>
        <p:spPr>
          <a:xfrm>
            <a:off x="762000" y="39878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DB0011"/>
                </a:solidFill>
                <a:latin typeface="JetBrains Mono"/>
                <a:ea typeface="JetBrains Mono"/>
              </a:rPr>
              <a:t>05</a:t>
            </a:r>
            <a:endParaRPr lang="en-US" sz="1500" noProof="1"/>
          </a:p>
        </p:txBody>
      </p:sp>
      <p:sp>
        <p:nvSpPr>
          <p:cNvPr id="14" name="p5t"/>
          <p:cNvSpPr txBox="1"/>
          <p:nvPr/>
        </p:nvSpPr>
        <p:spPr>
          <a:xfrm>
            <a:off x="1320800" y="3987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User approval: exact plaintext payload, verbatim</a:t>
            </a:r>
            <a:r>
              <a:rPr lang="en-US" sz="1400" noProof="1">
                <a:solidFill>
                  <a:srgbClr val="DB0011"/>
                </a:solidFill>
                <a:latin typeface="MiSans"/>
                <a:ea typeface="MiSans"/>
              </a:rPr>
              <a:t>　← final veto</a:t>
            </a:r>
            <a:endParaRPr lang="en-US" sz="1400" noProof="1"/>
          </a:p>
        </p:txBody>
      </p:sp>
      <p:sp>
        <p:nvSpPr>
          <p:cNvPr id="15" name="p6"/>
          <p:cNvSpPr txBox="1"/>
          <p:nvPr/>
        </p:nvSpPr>
        <p:spPr>
          <a:xfrm>
            <a:off x="762000" y="4572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06</a:t>
            </a:r>
            <a:endParaRPr lang="en-US" sz="1500" noProof="1"/>
          </a:p>
        </p:txBody>
      </p:sp>
      <p:sp>
        <p:nvSpPr>
          <p:cNvPr id="16" name="p6t"/>
          <p:cNvSpPr txBox="1"/>
          <p:nvPr/>
        </p:nvSpPr>
        <p:spPr>
          <a:xfrm>
            <a:off x="1320800" y="4572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Canonicalize + sign: rotating ID + reputation attestation, unlinkable</a:t>
            </a:r>
            <a:endParaRPr lang="en-US" sz="1400" noProof="1"/>
          </a:p>
        </p:txBody>
      </p:sp>
      <p:sp>
        <p:nvSpPr>
          <p:cNvPr id="17" name="p7"/>
          <p:cNvSpPr txBox="1"/>
          <p:nvPr/>
        </p:nvSpPr>
        <p:spPr>
          <a:xfrm>
            <a:off x="762000" y="5156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07</a:t>
            </a:r>
            <a:endParaRPr lang="en-US" sz="1500" noProof="1"/>
          </a:p>
        </p:txBody>
      </p:sp>
      <p:sp>
        <p:nvSpPr>
          <p:cNvPr id="18" name="p7t"/>
          <p:cNvSpPr txBox="1"/>
          <p:nvPr/>
        </p:nvSpPr>
        <p:spPr>
          <a:xfrm>
            <a:off x="1320800" y="51562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Into cloud quarantine; offline? staged in local outbox, sent later</a:t>
            </a:r>
            <a:endParaRPr lang="en-US" sz="1400" noProof="1"/>
          </a:p>
        </p:txBody>
      </p:sp>
      <p:sp>
        <p:nvSpPr>
          <p:cNvPr id="19" name="divV"/>
          <p:cNvSpPr/>
          <p:nvPr/>
        </p:nvSpPr>
        <p:spPr>
          <a:xfrm>
            <a:off x="7874000" y="1651000"/>
            <a:ext cx="12700" cy="39370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0" name="stance"/>
          <p:cNvSpPr txBox="1"/>
          <p:nvPr/>
        </p:nvSpPr>
        <p:spPr>
          <a:xfrm>
            <a:off x="8331200" y="1701800"/>
            <a:ext cx="3175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Design stance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Logic flipped: from detecting sensitive to </a:t>
            </a: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whitelisting shareable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Blacklists lose in principle on combinatorial attack surfaces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Conditions are enum-only: "our company's project X" physically can't be written in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Aggregate check is heuristic: it raises the bar, promises nothing — stated honestly</a:t>
            </a:r>
            <a:endParaRPr lang="en-US" sz="1300" noProof="1"/>
          </a:p>
        </p:txBody>
      </p:sp>
      <p:sp>
        <p:nvSpPr>
          <p:cNvPr id="21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2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23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08 / 15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KEY MECHANISM 3/4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Three Hard Constraints on Cloud Aggregation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k1"/>
          <p:cNvSpPr txBox="1"/>
          <p:nvPr/>
        </p:nvSpPr>
        <p:spPr>
          <a:xfrm>
            <a:off x="762000" y="17526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MiSans"/>
                <a:ea typeface="MiSans"/>
              </a:rPr>
              <a:t>k-anonymity</a:t>
            </a:r>
            <a:endParaRPr lang="en-US" sz="2600" noProof="1"/>
          </a:p>
        </p:txBody>
      </p:sp>
      <p:sp>
        <p:nvSpPr>
          <p:cNvPr id="6" name="k1d"/>
          <p:cNvSpPr txBox="1"/>
          <p:nvPr/>
        </p:nvSpPr>
        <p:spPr>
          <a:xfrm>
            <a:off x="3556000" y="1752600"/>
            <a:ext cx="787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Promotion requires </a:t>
            </a: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≥ k (default 3)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 independent reputation identities; below k, memories stay locked in quarantine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Defends against: the mosaic effect + one actor faking "group verification" — unique memories physically never leave</a:t>
            </a:r>
            <a:endParaRPr lang="en-US" sz="1300" noProof="1"/>
          </a:p>
        </p:txBody>
      </p:sp>
      <p:sp>
        <p:nvSpPr>
          <p:cNvPr id="7" name="r1"/>
          <p:cNvSpPr/>
          <p:nvPr/>
        </p:nvSpPr>
        <p:spPr>
          <a:xfrm>
            <a:off x="762000" y="25400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8" name="k2"/>
          <p:cNvSpPr txBox="1"/>
          <p:nvPr/>
        </p:nvSpPr>
        <p:spPr>
          <a:xfrm>
            <a:off x="762000" y="28194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gen ≤ 2</a:t>
            </a:r>
            <a:endParaRPr lang="en-US" sz="2600" noProof="1"/>
          </a:p>
        </p:txBody>
      </p:sp>
      <p:sp>
        <p:nvSpPr>
          <p:cNvPr id="9" name="k2d"/>
          <p:cNvSpPr txBox="1"/>
          <p:nvPr/>
        </p:nvSpPr>
        <p:spPr>
          <a:xfrm>
            <a:off x="3556000" y="2819400"/>
            <a:ext cx="787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Hard cap on distillation generations: 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never summarize a summary twice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; over-cap entries expire instead of being rewritten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Defends against: group-scale context collapse — qualifiers and evidence strength erode per generation, under a "team consensus" halo</a:t>
            </a:r>
            <a:endParaRPr lang="en-US" sz="1300" noProof="1"/>
          </a:p>
        </p:txBody>
      </p:sp>
      <p:sp>
        <p:nvSpPr>
          <p:cNvPr id="10" name="r2"/>
          <p:cNvSpPr/>
          <p:nvPr/>
        </p:nvSpPr>
        <p:spPr>
          <a:xfrm>
            <a:off x="762000" y="36068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k3"/>
          <p:cNvSpPr txBox="1"/>
          <p:nvPr/>
        </p:nvSpPr>
        <p:spPr>
          <a:xfrm>
            <a:off x="762000" y="38862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MiSans"/>
                <a:ea typeface="MiSans"/>
              </a:rPr>
              <a:t>Qualifier check</a:t>
            </a:r>
            <a:endParaRPr lang="en-US" sz="2600" noProof="1"/>
          </a:p>
        </p:txBody>
      </p:sp>
      <p:sp>
        <p:nvSpPr>
          <p:cNvPr id="12" name="k3d"/>
          <p:cNvSpPr txBox="1"/>
          <p:nvPr/>
        </p:nvSpPr>
        <p:spPr>
          <a:xfrm>
            <a:off x="3556000" y="3886200"/>
            <a:ext cx="787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Output conditions must equal the 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intersection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 of all inputs; any dropped constraint fails the distillation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Defends against: qualifier loss is collapse's first symptom — a mechanical set check, not LLM goodwill</a:t>
            </a:r>
            <a:endParaRPr lang="en-US" sz="1300" noProof="1"/>
          </a:p>
        </p:txBody>
      </p:sp>
      <p:sp>
        <p:nvSpPr>
          <p:cNvPr id="13" name="r3"/>
          <p:cNvSpPr/>
          <p:nvPr/>
        </p:nvSpPr>
        <p:spPr>
          <a:xfrm>
            <a:off x="762000" y="46736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4" name="extra1"/>
          <p:cNvSpPr txBox="1"/>
          <p:nvPr/>
        </p:nvSpPr>
        <p:spPr>
          <a:xfrm>
            <a:off x="762000" y="4978400"/>
            <a:ext cx="520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Separate failure-distillation pipe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Pitfalls / guardrails get their own cluster pool, k can drop to 2, 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higher push weight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: success paths look alike; pitfalls don't</a:t>
            </a:r>
            <a:endParaRPr lang="en-US" sz="1200" noProof="1"/>
          </a:p>
        </p:txBody>
      </p:sp>
      <p:sp>
        <p:nvSpPr>
          <p:cNvPr id="15" name="extra2"/>
          <p:cNvSpPr txBox="1"/>
          <p:nvPr/>
        </p:nvSpPr>
        <p:spPr>
          <a:xfrm>
            <a:off x="6350000" y="4978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Canary anchors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Known-answer memories distorted → alarm + freeze the channel: 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a smoke alarm for infiltration</a:t>
            </a:r>
            <a:endParaRPr lang="en-US" sz="1200" noProof="1"/>
          </a:p>
        </p:txBody>
      </p:sp>
      <p:sp>
        <p:nvSpPr>
          <p:cNvPr id="16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7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18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09 / 15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KEY MECHANISM 4/4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Five Gates Before Consensus Enters Context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g1"/>
          <p:cNvSpPr/>
          <p:nvPr/>
        </p:nvSpPr>
        <p:spPr>
          <a:xfrm>
            <a:off x="762000" y="17780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6" name="g1t"/>
          <p:cNvSpPr txBox="1"/>
          <p:nvPr/>
        </p:nvSpPr>
        <p:spPr>
          <a:xfrm>
            <a:off x="762000" y="17780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1 · Signature verify</a:t>
            </a:r>
            <a:endParaRPr lang="en-US" sz="1150" noProof="1"/>
          </a:p>
          <a:p>
            <a:pPr algn="ctr">
              <a:lnSpc>
                <a:spcPct val="135000"/>
              </a:lnSpc>
            </a:pP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release key + hash chain</a:t>
            </a:r>
            <a:endParaRPr lang="en-US" sz="1150" noProof="1"/>
          </a:p>
        </p:txBody>
      </p:sp>
      <p:sp>
        <p:nvSpPr>
          <p:cNvPr id="7" name="ga1"/>
          <p:cNvSpPr/>
          <p:nvPr>
            <p:extLst>
              <p:ext uri="{F5677B7D-0D2A-4D9B-9A5C-6D8D7D0E5A5D}">
                <pptd:line encoding="base64url">eyJ2aWV3Qm94IjpbMjAsMTBdLCJwb2ludHMiOiIwLDUgMjAsNSJ9</pptd:line>
              </p:ext>
            </p:extLst>
          </p:nvPr>
        </p:nvSpPr>
        <p:spPr>
          <a:xfrm>
            <a:off x="2717800" y="2133600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20" h="10">
                <a:moveTo>
                  <a:pt x="0" y="5"/>
                </a:moveTo>
                <a:lnTo>
                  <a:pt x="20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g2"/>
          <p:cNvSpPr/>
          <p:nvPr/>
        </p:nvSpPr>
        <p:spPr>
          <a:xfrm>
            <a:off x="2997200" y="17780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9" name="g2t"/>
          <p:cNvSpPr txBox="1"/>
          <p:nvPr/>
        </p:nvSpPr>
        <p:spPr>
          <a:xfrm>
            <a:off x="2997200" y="17780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2 · Threat scan</a:t>
            </a:r>
            <a:endParaRPr lang="en-US" sz="1150" noProof="1"/>
          </a:p>
          <a:p>
            <a:pPr algn="ctr">
              <a:lnSpc>
                <a:spcPct val="135000"/>
              </a:lnSpc>
            </a:pP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scope-specific strict</a:t>
            </a:r>
            <a:endParaRPr lang="en-US" sz="1150" noProof="1"/>
          </a:p>
        </p:txBody>
      </p:sp>
      <p:sp>
        <p:nvSpPr>
          <p:cNvPr id="10" name="ga2"/>
          <p:cNvSpPr/>
          <p:nvPr>
            <p:extLst>
              <p:ext uri="{F5677B7D-0D2A-4D9B-9A5C-6D8D7D0E5A5D}">
                <pptd:line encoding="base64url">eyJ2aWV3Qm94IjpbMjAsMTBdLCJwb2ludHMiOiIwLDUgMjAsNSJ9</pptd:line>
              </p:ext>
            </p:extLst>
          </p:nvPr>
        </p:nvSpPr>
        <p:spPr>
          <a:xfrm>
            <a:off x="4953000" y="2133600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20" h="10">
                <a:moveTo>
                  <a:pt x="0" y="5"/>
                </a:moveTo>
                <a:lnTo>
                  <a:pt x="20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1" name="g3"/>
          <p:cNvSpPr/>
          <p:nvPr/>
        </p:nvSpPr>
        <p:spPr>
          <a:xfrm>
            <a:off x="5232400" y="17780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2" name="g3t"/>
          <p:cNvSpPr txBox="1"/>
          <p:nvPr/>
        </p:nvSpPr>
        <p:spPr>
          <a:xfrm>
            <a:off x="5232400" y="17780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3 · Condition match</a:t>
            </a:r>
            <a:endParaRPr lang="en-US" sz="1150" noProof="1"/>
          </a:p>
          <a:p>
            <a:pPr algn="ctr">
              <a:lnSpc>
                <a:spcPct val="135000"/>
              </a:lnSpc>
            </a:pP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non-matching contexts filtered</a:t>
            </a:r>
            <a:endParaRPr lang="en-US" sz="1150" noProof="1"/>
          </a:p>
        </p:txBody>
      </p:sp>
      <p:sp>
        <p:nvSpPr>
          <p:cNvPr id="13" name="ga3"/>
          <p:cNvSpPr/>
          <p:nvPr>
            <p:extLst>
              <p:ext uri="{F5677B7D-0D2A-4D9B-9A5C-6D8D7D0E5A5D}">
                <pptd:line encoding="base64url">eyJ2aWV3Qm94IjpbMjAsMTBdLCJwb2ludHMiOiIwLDUgMjAsNSJ9</pptd:line>
              </p:ext>
            </p:extLst>
          </p:nvPr>
        </p:nvSpPr>
        <p:spPr>
          <a:xfrm>
            <a:off x="7188200" y="2133600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20" h="10">
                <a:moveTo>
                  <a:pt x="0" y="5"/>
                </a:moveTo>
                <a:lnTo>
                  <a:pt x="20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4" name="g4"/>
          <p:cNvSpPr/>
          <p:nvPr/>
        </p:nvSpPr>
        <p:spPr>
          <a:xfrm>
            <a:off x="7467600" y="1778000"/>
            <a:ext cx="1930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5" name="g4t"/>
          <p:cNvSpPr txBox="1"/>
          <p:nvPr/>
        </p:nvSpPr>
        <p:spPr>
          <a:xfrm>
            <a:off x="7467600" y="1778000"/>
            <a:ext cx="1930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4 · Dedup + downgrade</a:t>
            </a:r>
            <a:endParaRPr lang="en-US" sz="1150" noProof="1"/>
          </a:p>
          <a:p>
            <a:pPr algn="ctr">
              <a:lnSpc>
                <a:spcPct val="135000"/>
              </a:lnSpc>
            </a:pP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local trust never beaten</a:t>
            </a:r>
            <a:endParaRPr lang="en-US" sz="1150" noProof="1"/>
          </a:p>
        </p:txBody>
      </p:sp>
      <p:sp>
        <p:nvSpPr>
          <p:cNvPr id="16" name="ga4"/>
          <p:cNvSpPr/>
          <p:nvPr>
            <p:extLst>
              <p:ext uri="{F5677B7D-0D2A-4D9B-9A5C-6D8D7D0E5A5D}">
                <pptd:line encoding="base64url">eyJ2aWV3Qm94IjpbMjAsMTBdLCJwb2ludHMiOiIwLDUgMjAsNSJ9</pptd:line>
              </p:ext>
            </p:extLst>
          </p:nvPr>
        </p:nvSpPr>
        <p:spPr>
          <a:xfrm>
            <a:off x="9423400" y="2133600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20" h="10">
                <a:moveTo>
                  <a:pt x="0" y="5"/>
                </a:moveTo>
                <a:lnTo>
                  <a:pt x="20" y="5"/>
                </a:lnTo>
              </a:path>
            </a:pathLst>
          </a:custGeom>
          <a:noFill/>
          <a:ln w="25400" cap="rnd">
            <a:solidFill>
              <a:srgbClr val="DB0011"/>
            </a:solidFill>
            <a:round/>
            <a:tailEnd type="arrow"/>
          </a:ln>
        </p:spPr>
      </p:sp>
      <p:sp>
        <p:nvSpPr>
          <p:cNvPr id="17" name="g5"/>
          <p:cNvSpPr/>
          <p:nvPr/>
        </p:nvSpPr>
        <p:spPr>
          <a:xfrm>
            <a:off x="9702800" y="1778000"/>
            <a:ext cx="1727200" cy="812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B0011"/>
            </a:solidFill>
          </a:ln>
        </p:spPr>
      </p:sp>
      <p:sp>
        <p:nvSpPr>
          <p:cNvPr id="18" name="g5t"/>
          <p:cNvSpPr txBox="1"/>
          <p:nvPr/>
        </p:nvSpPr>
        <p:spPr>
          <a:xfrm>
            <a:off x="9702800" y="1778000"/>
            <a:ext cx="172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50" noProof="1" b="1">
                <a:solidFill>
                  <a:srgbClr val="DB0011"/>
                </a:solidFill>
                <a:latin typeface="MiSans"/>
                <a:ea typeface="MiSans"/>
              </a:rPr>
              <a:t>5 · User approval</a:t>
            </a:r>
            <a:endParaRPr lang="en-US" sz="1150" noProof="1"/>
          </a:p>
          <a:p>
            <a:pPr algn="ctr">
              <a:lnSpc>
                <a:spcPct val="135000"/>
              </a:lnSpc>
            </a:pPr>
            <a:r>
              <a:rPr lang="en-US" sz="1150" noProof="1">
                <a:solidFill>
                  <a:srgbClr val="DB0011"/>
                </a:solidFill>
                <a:latin typeface="MiSans"/>
                <a:ea typeface="MiSans"/>
              </a:rPr>
              <a:t>side by side with local</a:t>
            </a:r>
            <a:endParaRPr lang="en-US" sz="1150" noProof="1"/>
          </a:p>
        </p:txBody>
      </p:sp>
      <p:sp>
        <p:nvSpPr>
          <p:cNvPr id="19" name="inj"/>
          <p:cNvSpPr txBox="1"/>
          <p:nvPr/>
        </p:nvSpPr>
        <p:spPr>
          <a:xfrm>
            <a:off x="762000" y="2997200"/>
            <a:ext cx="7112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Injection: not a silent append — a labeled citizen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777777"/>
                </a:solidFill>
                <a:latin typeface="JetBrains Mono"/>
                <a:ea typeface="JetBrains Mono"/>
              </a:rPr>
              <a:t>&lt;team-consensus&gt; tagged, conditions + confidence + source count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USER.md never gets injected: group knowledge may never impersonate personal cognition</a:t>
            </a:r>
            <a:endParaRPr lang="en-US" sz="1300" noProof="1"/>
          </a:p>
        </p:txBody>
      </p:sp>
      <p:sp>
        <p:nvSpPr>
          <p:cNvPr id="20" name="aud"/>
          <p:cNvSpPr/>
          <p:nvPr/>
        </p:nvSpPr>
        <p:spPr>
          <a:xfrm>
            <a:off x="8382000" y="2997200"/>
            <a:ext cx="3048000" cy="127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21" name="audT"/>
          <p:cNvSpPr txBox="1"/>
          <p:nvPr/>
        </p:nvSpPr>
        <p:spPr>
          <a:xfrm>
            <a:off x="8559800" y="3124200"/>
            <a:ext cx="2692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Context ledger + rollback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every injection attributable: entry ID → pull session → insertion point → memory region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DB0011"/>
                </a:solidFill>
                <a:latin typeface="MiSans"/>
                <a:ea typeface="MiSans"/>
              </a:rPr>
              <a:t>single entry or whole version, one-click rollback</a:t>
            </a:r>
            <a:endParaRPr lang="en-US" sz="1200" noProof="1"/>
          </a:p>
        </p:txBody>
      </p:sp>
      <p:sp>
        <p:nvSpPr>
          <p:cNvPr id="22" name="cap"/>
          <p:cNvSpPr txBox="1"/>
          <p:nvPr/>
        </p:nvSpPr>
        <p:spPr>
          <a:xfrm>
            <a:off x="762000" y="4470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333333"/>
                </a:solidFill>
                <a:latin typeface="MiSans"/>
                <a:ea typeface="MiSans"/>
              </a:rPr>
              <a:t>Strict cap on share: consensus ≤ 15% of MEMORY.md (expansion needs explicit approval)</a:t>
            </a:r>
            <a:endParaRPr lang="en-US" sz="1500" noProof="1"/>
          </a:p>
        </p:txBody>
      </p:sp>
      <p:sp>
        <p:nvSpPr>
          <p:cNvPr id="23" name="cap2"/>
          <p:cNvSpPr txBox="1"/>
          <p:nvPr/>
        </p:nvSpPr>
        <p:spPr>
          <a:xfrm>
            <a:off x="762000" y="48768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Pitfall-type consensus may rise to 25% — by design: memory about failure outranks memory about success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The model still sees a small, fresh memory file; the cloud adds wisdom, not bulk</a:t>
            </a:r>
            <a:endParaRPr lang="en-US" sz="1200" noProof="1"/>
          </a:p>
        </p:txBody>
      </p:sp>
      <p:sp>
        <p:nvSpPr>
          <p:cNvPr id="24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5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26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10 / 15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06 · SECURITY MODEL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Defense in Depth: Four Layers, One Assume-Breach Posture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y1"/>
          <p:cNvSpPr txBox="1"/>
          <p:nvPr/>
        </p:nvSpPr>
        <p:spPr>
          <a:xfrm>
            <a:off x="762000" y="1676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① Local kernel (v0.1.0 shipped)</a:t>
            </a:r>
            <a:endParaRPr lang="en-US" sz="1300" noProof="1"/>
          </a:p>
        </p:txBody>
      </p:sp>
      <p:sp>
        <p:nvSpPr>
          <p:cNvPr id="6" name="y1d"/>
          <p:cNvSpPr txBox="1"/>
          <p:nvPr/>
        </p:nvSpPr>
        <p:spPr>
          <a:xfrm>
            <a:off x="4826000" y="16764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approval-gated writes, dedup, strict threat scan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goal: stop the crudest injection and rewrite</a:t>
            </a:r>
            <a:endParaRPr lang="en-US" sz="1200" noProof="1"/>
          </a:p>
        </p:txBody>
      </p:sp>
      <p:sp>
        <p:nvSpPr>
          <p:cNvPr id="7" name="r1"/>
          <p:cNvSpPr/>
          <p:nvPr/>
        </p:nvSpPr>
        <p:spPr>
          <a:xfrm>
            <a:off x="762000" y="22606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8" name="y2"/>
          <p:cNvSpPr txBox="1"/>
          <p:nvPr/>
        </p:nvSpPr>
        <p:spPr>
          <a:xfrm>
            <a:off x="762000" y="2413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② Uplink wall (schema whitelist)</a:t>
            </a:r>
            <a:endParaRPr lang="en-US" sz="1300" noProof="1"/>
          </a:p>
        </p:txBody>
      </p:sp>
      <p:sp>
        <p:nvSpPr>
          <p:cNvPr id="9" name="y2d"/>
          <p:cNvSpPr txBox="1"/>
          <p:nvPr/>
        </p:nvSpPr>
        <p:spPr>
          <a:xfrm>
            <a:off x="4826000" y="24130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shareable is structurally defined; privacy can't leak by grammar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goal: structurally impossible sensitive uploads</a:t>
            </a:r>
            <a:endParaRPr lang="en-US" sz="1200" noProof="1"/>
          </a:p>
        </p:txBody>
      </p:sp>
      <p:sp>
        <p:nvSpPr>
          <p:cNvPr id="10" name="r2"/>
          <p:cNvSpPr/>
          <p:nvPr/>
        </p:nvSpPr>
        <p:spPr>
          <a:xfrm>
            <a:off x="762000" y="29972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y3"/>
          <p:cNvSpPr txBox="1"/>
          <p:nvPr/>
        </p:nvSpPr>
        <p:spPr>
          <a:xfrm>
            <a:off x="762000" y="31496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③ Cloud governance</a:t>
            </a:r>
            <a:endParaRPr lang="en-US" sz="1300" noProof="1"/>
          </a:p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defense-in-depth core</a:t>
            </a:r>
            <a:endParaRPr lang="en-US" sz="1300" noProof="1"/>
          </a:p>
        </p:txBody>
      </p:sp>
      <p:sp>
        <p:nvSpPr>
          <p:cNvPr id="12" name="y3d"/>
          <p:cNvSpPr txBox="1"/>
          <p:nvPr/>
        </p:nvSpPr>
        <p:spPr>
          <a:xfrm>
            <a:off x="4826000" y="31496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quarantine · k-anonymity · reputation + cost · canary anchors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goal: catch what single users cannot</a:t>
            </a:r>
            <a:endParaRPr lang="en-US" sz="1200" noProof="1"/>
          </a:p>
        </p:txBody>
      </p:sp>
      <p:sp>
        <p:nvSpPr>
          <p:cNvPr id="13" name="r3"/>
          <p:cNvSpPr/>
          <p:nvPr/>
        </p:nvSpPr>
        <p:spPr>
          <a:xfrm>
            <a:off x="762000" y="37338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4" name="y4"/>
          <p:cNvSpPr txBox="1"/>
          <p:nvPr/>
        </p:nvSpPr>
        <p:spPr>
          <a:xfrm>
            <a:off x="762000" y="3886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④ Downlink quarantine (TEAM.md)</a:t>
            </a:r>
            <a:endParaRPr lang="en-US" sz="1300" noProof="1"/>
          </a:p>
        </p:txBody>
      </p:sp>
      <p:sp>
        <p:nvSpPr>
          <p:cNvPr id="15" name="y4d"/>
          <p:cNvSpPr txBox="1"/>
          <p:nvPr/>
        </p:nvSpPr>
        <p:spPr>
          <a:xfrm>
            <a:off x="4826000" y="38862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isolated namespace, injection caps, context ledger, rollback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goal: consensus never pollutes personal cognition</a:t>
            </a:r>
            <a:endParaRPr lang="en-US" sz="1200" noProof="1"/>
          </a:p>
        </p:txBody>
      </p:sp>
      <p:sp>
        <p:nvSpPr>
          <p:cNvPr id="16" name="r4"/>
          <p:cNvSpPr/>
          <p:nvPr/>
        </p:nvSpPr>
        <p:spPr>
          <a:xfrm>
            <a:off x="762000" y="4470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7" name="abTitle"/>
          <p:cNvSpPr txBox="1"/>
          <p:nvPr/>
        </p:nvSpPr>
        <p:spPr>
          <a:xfrm>
            <a:off x="762000" y="4775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DB0011"/>
                </a:solidFill>
                <a:latin typeface="MiSans"/>
                <a:ea typeface="MiSans"/>
              </a:rPr>
              <a:t>Assume breach: layered defense admits it will be breached</a:t>
            </a:r>
            <a:endParaRPr lang="en-US" sz="1600" noProof="1"/>
          </a:p>
        </p:txBody>
      </p:sp>
      <p:sp>
        <p:nvSpPr>
          <p:cNvPr id="18" name="abBody"/>
          <p:cNvSpPr txBox="1"/>
          <p:nvPr/>
        </p:nvSpPr>
        <p:spPr>
          <a:xfrm>
            <a:off x="762000" y="5156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What matters isn't never being breached — it's detectability, attribution, and rollback after the breach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Murmur's cross-user chatter attack: any single user can't spot it; quarantine + source-count quorum can</a:t>
            </a:r>
            <a:endParaRPr lang="en-US" sz="1300" noProof="1"/>
          </a:p>
        </p:txBody>
      </p:sp>
      <p:sp>
        <p:nvSpPr>
          <p:cNvPr id="19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0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21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11 / 15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07 · RESEARCH FOUNDATIONS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Research Lineage: Where the Design Comes From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pp1"/>
          <p:cNvSpPr txBox="1"/>
          <p:nvPr/>
        </p:nvSpPr>
        <p:spPr>
          <a:xfrm>
            <a:off x="762000" y="1651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A-MEM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（NeurIPS 2025）Zettelkasten-style links + memory evolution → </a:t>
            </a:r>
            <a:r>
              <a:rPr lang="en-US" sz="1250" noProof="1">
                <a:solidFill>
                  <a:srgbClr val="DB0011"/>
                </a:solidFill>
                <a:latin typeface="MiSans"/>
                <a:ea typeface="MiSans"/>
              </a:rPr>
              <a:t>our refine stage &amp; relationship weaving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050" noProof="1" u="sng">
                <a:solidFill>
                  <a:srgbClr val="777777"/>
                </a:solidFill>
                <a:latin typeface="MiSans"/>
                <a:ea typeface="MiSans"/>
                <a:hlinkClick r:id="rId3"/>
              </a:rPr>
              <a:t>arXiv:2502.12110</a:t>
            </a:r>
            <a:endParaRPr lang="en-US" sz="1250" noProof="1"/>
          </a:p>
        </p:txBody>
      </p:sp>
      <p:sp>
        <p:nvSpPr>
          <p:cNvPr id="6" name="pp2"/>
          <p:cNvSpPr txBox="1"/>
          <p:nvPr/>
        </p:nvSpPr>
        <p:spPr>
          <a:xfrm>
            <a:off x="762000" y="23114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G-Memory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（NeurIPS 2025）solo memory naively planted into multi-agent systems gets worse → </a:t>
            </a:r>
            <a:r>
              <a:rPr lang="en-US" sz="1250" noProof="1">
                <a:solidFill>
                  <a:srgbClr val="DB0011"/>
                </a:solidFill>
                <a:latin typeface="MiSans"/>
                <a:ea typeface="MiSans"/>
              </a:rPr>
              <a:t>our separate team tier &amp; condition tags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050" noProof="1" u="sng">
                <a:solidFill>
                  <a:srgbClr val="777777"/>
                </a:solidFill>
                <a:latin typeface="MiSans"/>
                <a:ea typeface="MiSans"/>
                <a:hlinkClick r:id="rId4"/>
              </a:rPr>
              <a:t>arXiv:2506.07398</a:t>
            </a:r>
            <a:endParaRPr lang="en-US" sz="1250" noProof="1"/>
          </a:p>
        </p:txBody>
      </p:sp>
      <p:sp>
        <p:nvSpPr>
          <p:cNvPr id="7" name="pp3"/>
          <p:cNvSpPr txBox="1"/>
          <p:nvPr/>
        </p:nvSpPr>
        <p:spPr>
          <a:xfrm>
            <a:off x="762000" y="29718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ACE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（ICLR 2026）delta updates + grow-and-refine beat rewrites; documents brevity bias &amp; context collapse → </a:t>
            </a:r>
            <a:r>
              <a:rPr lang="en-US" sz="1250" noProof="1">
                <a:solidFill>
                  <a:srgbClr val="DB0011"/>
                </a:solidFill>
                <a:latin typeface="MiSans"/>
                <a:ea typeface="MiSans"/>
              </a:rPr>
              <a:t>our delta distribution &amp; gen cap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050" noProof="1" u="sng">
                <a:solidFill>
                  <a:srgbClr val="777777"/>
                </a:solidFill>
                <a:latin typeface="MiSans"/>
                <a:ea typeface="MiSans"/>
                <a:hlinkClick r:id="rId5"/>
              </a:rPr>
              <a:t>arXiv:2510.04618</a:t>
            </a:r>
            <a:endParaRPr lang="en-US" sz="1250" noProof="1"/>
          </a:p>
        </p:txBody>
      </p:sp>
      <p:sp>
        <p:nvSpPr>
          <p:cNvPr id="8" name="pp4"/>
          <p:cNvSpPr txBox="1"/>
          <p:nvPr/>
        </p:nvSpPr>
        <p:spPr>
          <a:xfrm>
            <a:off x="762000" y="36322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ReasoningBank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（Google DeepMind, 2025）success + failure distilled into strategy memory, mature-then-prune → </a:t>
            </a:r>
            <a:r>
              <a:rPr lang="en-US" sz="1250" noProof="1">
                <a:solidFill>
                  <a:srgbClr val="DB0011"/>
                </a:solidFill>
                <a:latin typeface="MiSans"/>
                <a:ea typeface="MiSans"/>
              </a:rPr>
              <a:t>our failure-distillation pipe &amp; maturity stages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777777"/>
                </a:solidFill>
                <a:latin typeface="MiSans"/>
                <a:ea typeface="MiSans"/>
              </a:rPr>
              <a:t>paper: "ReasoningBank: ..."（2025-09）</a:t>
            </a:r>
            <a:endParaRPr lang="en-US" sz="1250" noProof="1"/>
          </a:p>
        </p:txBody>
      </p:sp>
      <p:sp>
        <p:nvSpPr>
          <p:cNvPr id="9" name="atkTitle"/>
          <p:cNvSpPr txBox="1"/>
          <p:nvPr/>
        </p:nvSpPr>
        <p:spPr>
          <a:xfrm>
            <a:off x="762000" y="4368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DB0011"/>
                </a:solidFill>
                <a:latin typeface="MiSans"/>
                <a:ea typeface="MiSans"/>
              </a:rPr>
              <a:t>The attack literature wrote the defense requirements</a:t>
            </a:r>
            <a:endParaRPr lang="en-US" sz="1400" noProof="1"/>
          </a:p>
        </p:txBody>
      </p:sp>
      <p:sp>
        <p:nvSpPr>
          <p:cNvPr id="10" name="atkBody"/>
          <p:cNvSpPr txBox="1"/>
          <p:nvPr/>
        </p:nvSpPr>
        <p:spPr>
          <a:xfrm>
            <a:off x="762000" y="47244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MINJA · AgentPoison · Murmur: &gt;95% injection success, cross-user propagation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MemAudit: aggregate-then-filter doesn't work for memory audits; needs causal attribution → our context ledger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Byzantine-robust federated learning (LIE attack): reputation score alone is beatable → cost-based defense</a:t>
            </a:r>
            <a:endParaRPr lang="en-US" sz="1200" noProof="1"/>
          </a:p>
        </p:txBody>
      </p:sp>
      <p:sp>
        <p:nvSpPr>
          <p:cNvPr id="11" name="srcs"/>
          <p:cNvSpPr txBox="1"/>
          <p:nvPr/>
        </p:nvSpPr>
        <p:spPr>
          <a:xfrm>
            <a:off x="762000" y="5791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6"/>
              </a:rPr>
              <a:t>Collaborative Memory</a:t>
            </a: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 · 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7"/>
              </a:rPr>
              <a:t>adaptive attacks on agent memory</a:t>
            </a: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 · 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8"/>
              </a:rPr>
              <a:t>Murmur</a:t>
            </a: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 · 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9"/>
              </a:rPr>
              <a:t>MemAudit</a:t>
            </a:r>
            <a:endParaRPr lang="en-US" sz="1000" noProof="1"/>
          </a:p>
        </p:txBody>
      </p:sp>
      <p:sp>
        <p:nvSpPr>
          <p:cNvPr id="12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3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14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12 / 15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08 · VALIDATION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Simulated Pilot: 30 Days of Signals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warn"/>
          <p:cNvSpPr/>
          <p:nvPr/>
        </p:nvSpPr>
        <p:spPr>
          <a:xfrm>
            <a:off x="762000" y="1549400"/>
            <a:ext cx="10668000" cy="381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B0011"/>
            </a:solidFill>
            <a:prstDash val="dash"/>
          </a:ln>
        </p:spPr>
      </p:sp>
      <p:sp>
        <p:nvSpPr>
          <p:cNvPr id="6" name="warnT"/>
          <p:cNvSpPr txBox="1"/>
          <p:nvPr/>
        </p:nvSpPr>
        <p:spPr>
          <a:xfrm>
            <a:off x="914400" y="15494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⚠ Simulated example data (200 users · 30 days · 4 channels) — must be replaced with measured results before external use</a:t>
            </a:r>
            <a:endParaRPr lang="en-US" sz="1200" noProof="1"/>
          </a:p>
        </p:txBody>
      </p:sp>
      <p:sp>
        <p:nvSpPr>
          <p:cNvPr id="7" name="m1n"/>
          <p:cNvSpPr txBox="1"/>
          <p:nvPr/>
        </p:nvSpPr>
        <p:spPr>
          <a:xfrm>
            <a:off x="762000" y="22606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MiSans"/>
                <a:ea typeface="MiSans"/>
              </a:rPr>
              <a:t>92%</a:t>
            </a:r>
            <a:endParaRPr lang="en-US" sz="3000" noProof="1"/>
          </a:p>
        </p:txBody>
      </p:sp>
      <p:sp>
        <p:nvSpPr>
          <p:cNvPr id="8" name="m1t"/>
          <p:cNvSpPr txBox="1"/>
          <p:nvPr/>
        </p:nvSpPr>
        <p:spPr>
          <a:xfrm>
            <a:off x="762000" y="28448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Non-whitelist interception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whitelist schema rejects the gray zone</a:t>
            </a:r>
            <a:endParaRPr lang="en-US" sz="1200" noProof="1"/>
          </a:p>
        </p:txBody>
      </p:sp>
      <p:sp>
        <p:nvSpPr>
          <p:cNvPr id="9" name="m2n"/>
          <p:cNvSpPr txBox="1"/>
          <p:nvPr/>
        </p:nvSpPr>
        <p:spPr>
          <a:xfrm>
            <a:off x="3175000" y="22606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MiSans"/>
                <a:ea typeface="MiSans"/>
              </a:rPr>
              <a:t>87 entries</a:t>
            </a:r>
            <a:endParaRPr lang="en-US" sz="3000" noProof="1"/>
          </a:p>
        </p:txBody>
      </p:sp>
      <p:sp>
        <p:nvSpPr>
          <p:cNvPr id="10" name="m2t"/>
          <p:cNvSpPr txBox="1"/>
          <p:nvPr/>
        </p:nvSpPr>
        <p:spPr>
          <a:xfrm>
            <a:off x="3175000" y="28448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Promoted tool pitfalls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independent sources ≥ 3 · avg 4.2 days</a:t>
            </a:r>
            <a:endParaRPr lang="en-US" sz="1200" noProof="1"/>
          </a:p>
        </p:txBody>
      </p:sp>
      <p:sp>
        <p:nvSpPr>
          <p:cNvPr id="11" name="m3n"/>
          <p:cNvSpPr txBox="1"/>
          <p:nvPr/>
        </p:nvSpPr>
        <p:spPr>
          <a:xfrm>
            <a:off x="5842000" y="22606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MiSans"/>
                <a:ea typeface="MiSans"/>
              </a:rPr>
              <a:t>96%</a:t>
            </a:r>
            <a:endParaRPr lang="en-US" sz="3000" noProof="1"/>
          </a:p>
        </p:txBody>
      </p:sp>
      <p:sp>
        <p:nvSpPr>
          <p:cNvPr id="12" name="m3t"/>
          <p:cNvSpPr txBox="1"/>
          <p:nvPr/>
        </p:nvSpPr>
        <p:spPr>
          <a:xfrm>
            <a:off x="5842000" y="28448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Injection detection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quarantine + source-count quorum</a:t>
            </a:r>
            <a:endParaRPr lang="en-US" sz="1200" noProof="1"/>
          </a:p>
        </p:txBody>
      </p:sp>
      <p:sp>
        <p:nvSpPr>
          <p:cNvPr id="13" name="m4n"/>
          <p:cNvSpPr txBox="1"/>
          <p:nvPr/>
        </p:nvSpPr>
        <p:spPr>
          <a:xfrm>
            <a:off x="8382000" y="22606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MiSans"/>
                <a:ea typeface="MiSans"/>
              </a:rPr>
              <a:t>&lt; 2 s</a:t>
            </a:r>
            <a:endParaRPr lang="en-US" sz="3000" noProof="1"/>
          </a:p>
        </p:txBody>
      </p:sp>
      <p:sp>
        <p:nvSpPr>
          <p:cNvPr id="14" name="m4t"/>
          <p:cNvSpPr txBox="1"/>
          <p:nvPr/>
        </p:nvSpPr>
        <p:spPr>
          <a:xfrm>
            <a:off x="8382000" y="28448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Full rollback time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context ledger replays deletion</a:t>
            </a:r>
            <a:endParaRPr lang="en-US" sz="1200" noProof="1"/>
          </a:p>
        </p:txBody>
      </p:sp>
      <p:sp>
        <p:nvSpPr>
          <p:cNvPr id="15" name="r1"/>
          <p:cNvSpPr/>
          <p:nvPr/>
        </p:nvSpPr>
        <p:spPr>
          <a:xfrm>
            <a:off x="762000" y="36322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6" name="d1"/>
          <p:cNvSpPr txBox="1"/>
          <p:nvPr/>
        </p:nvSpPr>
        <p:spPr>
          <a:xfrm>
            <a:off x="762000" y="3886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Poisoned-entry survival in push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2200" noProof="1">
                <a:solidFill>
                  <a:srgbClr val="777777"/>
                </a:solidFill>
                <a:latin typeface="MiSans"/>
                <a:ea typeface="MiSans"/>
              </a:rPr>
              <a:t>78%</a:t>
            </a: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 → </a:t>
            </a:r>
            <a:r>
              <a:rPr lang="en-US" sz="2200" noProof="1" b="1">
                <a:solidFill>
                  <a:srgbClr val="DB0011"/>
                </a:solidFill>
                <a:latin typeface="MiSans"/>
                <a:ea typeface="MiSans"/>
              </a:rPr>
              <a:t>4%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before / after governance</a:t>
            </a:r>
            <a:endParaRPr lang="en-US" sz="1300" noProof="1"/>
          </a:p>
        </p:txBody>
      </p:sp>
      <p:sp>
        <p:nvSpPr>
          <p:cNvPr id="17" name="d2"/>
          <p:cNvSpPr txBox="1"/>
          <p:nvPr/>
        </p:nvSpPr>
        <p:spPr>
          <a:xfrm>
            <a:off x="6350000" y="3886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Consensus share of MEMORY.md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2200" noProof="1" b="1">
                <a:solidFill>
                  <a:srgbClr val="DB0011"/>
                </a:solidFill>
                <a:latin typeface="MiSans"/>
                <a:ea typeface="MiSans"/>
              </a:rPr>
              <a:t>&lt; 15%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strictly capped (pitfalls ≤ 25%)</a:t>
            </a:r>
            <a:endParaRPr lang="en-US" sz="1300" noProof="1"/>
          </a:p>
        </p:txBody>
      </p:sp>
      <p:sp>
        <p:nvSpPr>
          <p:cNvPr id="18" name="r2"/>
          <p:cNvSpPr/>
          <p:nvPr/>
        </p:nvSpPr>
        <p:spPr>
          <a:xfrm>
            <a:off x="762000" y="48260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9" name="rep"/>
          <p:cNvSpPr txBox="1"/>
          <p:nvPr/>
        </p:nvSpPr>
        <p:spPr>
          <a:xfrm>
            <a:off x="762000" y="5080000"/>
            <a:ext cx="1066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Replacement path</a:t>
            </a: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: M3 acceptance measures against 4-channel simulation logs; M4 runs real injection attack scripts (MINJA / Murmur scenario replays) for attack-vs-defense comparisons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All current numbers are structure-consistency checks of the mechanism, not field efficacy</a:t>
            </a:r>
            <a:endParaRPr lang="en-US" sz="1200" noProof="1"/>
          </a:p>
        </p:txBody>
      </p:sp>
      <p:sp>
        <p:nvSpPr>
          <p:cNvPr id="20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1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22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13 / 15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09 · ROLLOUT PLAN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333333"/>
                </a:solidFill>
                <a:latin typeface="MiSans"/>
                <a:ea typeface="MiSans"/>
              </a:rPr>
              <a:t>Roadmap: Local First, Cloud Later</a:t>
            </a:r>
            <a:endParaRPr lang="en-US" sz="26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axis"/>
          <p:cNvSpPr/>
          <p:nvPr>
            <p:extLst>
              <p:ext uri="{F5677B7D-0D2A-4D9B-9A5C-6D8D7D0E5A5D}">
                <pptd:line encoding="base64url">eyJ2aWV3Qm94IjpbODQwLDEwXSwicG9pbnRzIjoiMCw1IDg0MCw1In0</pptd:line>
              </p:ext>
            </p:extLst>
          </p:nvPr>
        </p:nvSpPr>
        <p:spPr>
          <a:xfrm>
            <a:off x="762000" y="2667000"/>
            <a:ext cx="10668000" cy="127000"/>
          </a:xfrm>
          <a:custGeom>
            <a:avLst/>
            <a:gdLst/>
            <a:ahLst/>
            <a:cxnLst/>
            <a:rect l="l" t="t" r="r" b="b"/>
            <a:pathLst>
              <a:path w="840" h="10">
                <a:moveTo>
                  <a:pt x="0" y="5"/>
                </a:moveTo>
                <a:lnTo>
                  <a:pt x="840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6" name="m1dot"/>
          <p:cNvSpPr/>
          <p:nvPr/>
        </p:nvSpPr>
        <p:spPr>
          <a:xfrm>
            <a:off x="1219200" y="2654300"/>
            <a:ext cx="152400" cy="152400"/>
          </a:xfrm>
          <a:prstGeom prst="ellipse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7" name="m1t"/>
          <p:cNvSpPr txBox="1"/>
          <p:nvPr/>
        </p:nvSpPr>
        <p:spPr>
          <a:xfrm>
            <a:off x="762000" y="1778000"/>
            <a:ext cx="177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M1 · Uplink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whitelist + outbox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DB0011"/>
                </a:solidFill>
                <a:latin typeface="MiSans"/>
                <a:ea typeface="MiSans"/>
              </a:rPr>
              <a:t>~done</a:t>
            </a:r>
            <a:endParaRPr lang="en-US" sz="1200" noProof="1"/>
          </a:p>
        </p:txBody>
      </p:sp>
      <p:sp>
        <p:nvSpPr>
          <p:cNvPr id="8" name="m2dot"/>
          <p:cNvSpPr/>
          <p:nvPr/>
        </p:nvSpPr>
        <p:spPr>
          <a:xfrm>
            <a:off x="3378200" y="2654300"/>
            <a:ext cx="152400" cy="152400"/>
          </a:xfrm>
          <a:prstGeom prst="ellipse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9" name="m2t"/>
          <p:cNvSpPr txBox="1"/>
          <p:nvPr/>
        </p:nvSpPr>
        <p:spPr>
          <a:xfrm>
            <a:off x="2921000" y="17780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M2 · Quarantine + k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independence quorum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DB0011"/>
                </a:solidFill>
                <a:latin typeface="MiSans"/>
                <a:ea typeface="MiSans"/>
              </a:rPr>
              <a:t>this week's priority</a:t>
            </a:r>
            <a:endParaRPr lang="en-US" sz="1200" noProof="1"/>
          </a:p>
        </p:txBody>
      </p:sp>
      <p:sp>
        <p:nvSpPr>
          <p:cNvPr id="10" name="m3dot"/>
          <p:cNvSpPr/>
          <p:nvPr/>
        </p:nvSpPr>
        <p:spPr>
          <a:xfrm>
            <a:off x="5537200" y="265430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77777"/>
            </a:solidFill>
          </a:ln>
        </p:spPr>
      </p:sp>
      <p:sp>
        <p:nvSpPr>
          <p:cNvPr id="11" name="m3t"/>
          <p:cNvSpPr txBox="1"/>
          <p:nvPr/>
        </p:nvSpPr>
        <p:spPr>
          <a:xfrm>
            <a:off x="5080000" y="17780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M3 · Distribution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channels + signatures + delta</a:t>
            </a:r>
            <a:endParaRPr lang="en-US" sz="1200" noProof="1"/>
          </a:p>
        </p:txBody>
      </p:sp>
      <p:sp>
        <p:nvSpPr>
          <p:cNvPr id="12" name="m4dot"/>
          <p:cNvSpPr/>
          <p:nvPr/>
        </p:nvSpPr>
        <p:spPr>
          <a:xfrm>
            <a:off x="7696200" y="265430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77777"/>
            </a:solidFill>
          </a:ln>
        </p:spPr>
      </p:sp>
      <p:sp>
        <p:nvSpPr>
          <p:cNvPr id="13" name="m4t"/>
          <p:cNvSpPr txBox="1"/>
          <p:nvPr/>
        </p:nvSpPr>
        <p:spPr>
          <a:xfrm>
            <a:off x="7239000" y="17780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M4 · Red/blue drills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MINJA / Murmur scenarios</a:t>
            </a:r>
            <a:endParaRPr lang="en-US" sz="1200" noProof="1"/>
          </a:p>
        </p:txBody>
      </p:sp>
      <p:sp>
        <p:nvSpPr>
          <p:cNvPr id="14" name="m5dot"/>
          <p:cNvSpPr/>
          <p:nvPr/>
        </p:nvSpPr>
        <p:spPr>
          <a:xfrm>
            <a:off x="9855200" y="265430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77777"/>
            </a:solidFill>
          </a:ln>
        </p:spPr>
      </p:sp>
      <p:sp>
        <p:nvSpPr>
          <p:cNvPr id="15" name="m5t"/>
          <p:cNvSpPr txBox="1"/>
          <p:nvPr/>
        </p:nvSpPr>
        <p:spPr>
          <a:xfrm>
            <a:off x="9398000" y="17780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M5 · Reputation network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cross-channel identity</a:t>
            </a:r>
            <a:endParaRPr lang="en-US" sz="1200" noProof="1"/>
          </a:p>
        </p:txBody>
      </p:sp>
      <p:sp>
        <p:nvSpPr>
          <p:cNvPr id="16" name="below1"/>
          <p:cNvSpPr txBox="1"/>
          <p:nvPr/>
        </p:nvSpPr>
        <p:spPr>
          <a:xfrm>
            <a:off x="762000" y="3175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Cold start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seed consensus library + k=2 pilot channel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B0011"/>
                </a:solidFill>
                <a:latin typeface="MiSans"/>
                <a:ea typeface="MiSans"/>
              </a:rPr>
              <a:t>explicitly disclosed operator trust assumption — not hidden</a:t>
            </a:r>
            <a:endParaRPr lang="en-US" sz="1200" noProof="1"/>
          </a:p>
        </p:txBody>
      </p:sp>
      <p:sp>
        <p:nvSpPr>
          <p:cNvPr id="17" name="below2"/>
          <p:cNvSpPr txBox="1"/>
          <p:nvPr/>
        </p:nvSpPr>
        <p:spPr>
          <a:xfrm>
            <a:off x="6350000" y="3175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Every stage has an exit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cloud config default off · one-click cloud disable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the local kernel never depends on the cloud</a:t>
            </a:r>
            <a:endParaRPr lang="en-US" sz="1200" noProof="1"/>
          </a:p>
        </p:txBody>
      </p:sp>
      <p:sp>
        <p:nvSpPr>
          <p:cNvPr id="18" name="r1"/>
          <p:cNvSpPr/>
          <p:nvPr/>
        </p:nvSpPr>
        <p:spPr>
          <a:xfrm>
            <a:off x="762000" y="4470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9" name="week"/>
          <p:cNvSpPr txBox="1"/>
          <p:nvPr/>
        </p:nvSpPr>
        <p:spPr>
          <a:xfrm>
            <a:off x="762000" y="4724400"/>
            <a:ext cx="1066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This week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: close out M1–M3 acceptance, replace the placeholder page with measured numbers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pilot channel invites 3 friendly teams; canary anchors in on day one</a:t>
            </a:r>
            <a:endParaRPr lang="en-US" sz="1300" noProof="1"/>
          </a:p>
        </p:txBody>
      </p:sp>
      <p:sp>
        <p:nvSpPr>
          <p:cNvPr id="20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1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Cloud Evolution Design Review</a:t>
            </a:r>
            <a:endParaRPr lang="en-US" sz="1100" noProof="1"/>
          </a:p>
        </p:txBody>
      </p:sp>
      <p:sp>
        <p:nvSpPr>
          <p:cNvPr id="22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14 / 15</a:t>
            </a:r>
            <a:endParaRPr lang="en-U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DB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1905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200" kern="0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10 · CLOSING</a:t>
            </a:r>
            <a:endParaRPr lang="en-US" sz="1200" noProof="1"/>
          </a:p>
        </p:txBody>
      </p:sp>
      <p:sp>
        <p:nvSpPr>
          <p:cNvPr id="3" name="big"/>
          <p:cNvSpPr txBox="1"/>
          <p:nvPr/>
        </p:nvSpPr>
        <p:spPr>
          <a:xfrm>
            <a:off x="762000" y="226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FFFFFF"/>
                </a:solidFill>
                <a:latin typeface="MiSans"/>
                <a:ea typeface="MiSans"/>
              </a:rPr>
              <a:t>Three statements to take away</a:t>
            </a:r>
            <a:endParaRPr lang="en-US" sz="4000" noProof="1"/>
          </a:p>
        </p:txBody>
      </p:sp>
      <p:sp>
        <p:nvSpPr>
          <p:cNvPr id="4" name="s1"/>
          <p:cNvSpPr txBox="1"/>
          <p:nvPr/>
        </p:nvSpPr>
        <p:spPr>
          <a:xfrm>
            <a:off x="762000" y="3454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FFFFFF"/>
                </a:solidFill>
                <a:latin typeface="MiSans"/>
                <a:ea typeface="MiSans"/>
              </a:rPr>
              <a:t>Evolution mechanisms come from papers; defense mechanisms come from attacks</a:t>
            </a:r>
            <a:endParaRPr lang="en-US" sz="1700" noProof="1"/>
          </a:p>
        </p:txBody>
      </p:sp>
      <p:sp>
        <p:nvSpPr>
          <p:cNvPr id="5" name="s2"/>
          <p:cNvSpPr txBox="1"/>
          <p:nvPr/>
        </p:nvSpPr>
        <p:spPr>
          <a:xfrm>
            <a:off x="762000" y="3937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FFFFFF"/>
                </a:solidFill>
                <a:latin typeface="MiSans"/>
                <a:ea typeface="MiSans"/>
              </a:rPr>
              <a:t>Every countermeasure is structure, not detection</a:t>
            </a:r>
            <a:endParaRPr lang="en-US" sz="1700" noProof="1"/>
          </a:p>
        </p:txBody>
      </p:sp>
      <p:sp>
        <p:nvSpPr>
          <p:cNvPr id="6" name="s3"/>
          <p:cNvSpPr txBox="1"/>
          <p:nvPr/>
        </p:nvSpPr>
        <p:spPr>
          <a:xfrm>
            <a:off x="762000" y="4419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FFFFF"/>
                </a:solidFill>
                <a:latin typeface="MiSans"/>
                <a:ea typeface="MiSans"/>
              </a:rPr>
              <a:t>The user's veto runs through everything — and everything rolls back</a:t>
            </a:r>
            <a:endParaRPr lang="en-US" sz="1700" noProof="1"/>
          </a:p>
        </p:txBody>
      </p:sp>
      <p:sp>
        <p:nvSpPr>
          <p:cNvPr id="7" name="sub"/>
          <p:cNvSpPr txBox="1"/>
          <p:nvPr/>
        </p:nvSpPr>
        <p:spPr>
          <a:xfrm>
            <a:off x="762000" y="52324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memory-hub · local-first memory kernel + cloud evolution layer · design review</a:t>
            </a:r>
            <a:endParaRPr lang="en-US" sz="1200" noProof="1"/>
          </a:p>
        </p:txBody>
      </p:sp>
      <p:sp>
        <p:nvSpPr>
          <p:cNvPr id="8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15 / 15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>
  <dc:title>memory-hub: From Solo Memory to Collective Evolution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